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01 / 12</a:t>
            </a:r>
          </a:p>
        </p:txBody>
      </p:sp>
      <p:sp>
        <p:nvSpPr>
          <p:cNvPr id="6" name="Oval 5"/>
          <p:cNvSpPr/>
          <p:nvPr/>
        </p:nvSpPr>
        <p:spPr>
          <a:xfrm>
            <a:off x="6703923" y="685800"/>
            <a:ext cx="5029200" cy="5029200"/>
          </a:xfrm>
          <a:prstGeom prst="ellipse">
            <a:avLst/>
          </a:prstGeom>
          <a:solidFill>
            <a:srgbClr val="3B3F54"/>
          </a:solidFill>
          <a:ln w="63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069592" y="1234440"/>
            <a:ext cx="3657600" cy="3657600"/>
          </a:xfrm>
          <a:prstGeom prst="ellipse">
            <a:avLst/>
          </a:prstGeom>
          <a:solidFill>
            <a:srgbClr val="4B0082"/>
          </a:solidFill>
          <a:ln w="508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02436" y="1005840"/>
            <a:ext cx="10058400" cy="4937760"/>
          </a:xfrm>
          <a:prstGeom prst="round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65276" y="868680"/>
            <a:ext cx="10058400" cy="4937760"/>
          </a:xfrm>
          <a:prstGeom prst="roundRect">
            <a:avLst/>
          </a:prstGeom>
          <a:solidFill>
            <a:srgbClr val="660066"/>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65276" y="868680"/>
            <a:ext cx="10058400" cy="18288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5276" y="5733288"/>
            <a:ext cx="10058400" cy="7315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5276" y="868680"/>
            <a:ext cx="457200"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65276" y="868680"/>
            <a:ext cx="64008" cy="457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666476" y="868680"/>
            <a:ext cx="457200"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059668" y="868680"/>
            <a:ext cx="64008" cy="457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5276" y="5742432"/>
            <a:ext cx="457200"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65276" y="5349240"/>
            <a:ext cx="64008" cy="457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666476" y="5742432"/>
            <a:ext cx="457200"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059668" y="5349240"/>
            <a:ext cx="64008" cy="4572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2476" y="1234440"/>
            <a:ext cx="9144000" cy="2194560"/>
          </a:xfrm>
          <a:prstGeom prst="rect">
            <a:avLst/>
          </a:prstGeom>
          <a:noFill/>
        </p:spPr>
        <p:txBody>
          <a:bodyPr wrap="square">
            <a:spAutoFit/>
          </a:bodyPr>
          <a:lstStyle/>
          <a:p>
            <a:pPr algn="ctr"/>
            <a:r>
              <a:rPr sz="4800" b="1" i="0">
                <a:solidFill>
                  <a:srgbClr val="FFFFFF"/>
                </a:solidFill>
                <a:latin typeface="Calibri"/>
              </a:rPr>
              <a:t>Danmarks Tekniske Universitet (DTU)</a:t>
            </a:r>
          </a:p>
        </p:txBody>
      </p:sp>
      <p:sp>
        <p:nvSpPr>
          <p:cNvPr id="21" name="Rectangle 20"/>
          <p:cNvSpPr/>
          <p:nvPr/>
        </p:nvSpPr>
        <p:spPr>
          <a:xfrm>
            <a:off x="3076956" y="3566160"/>
            <a:ext cx="6035040" cy="4572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392156" y="5458968"/>
            <a:ext cx="109728"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593324" y="5458968"/>
            <a:ext cx="109728"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94492" y="5458968"/>
            <a:ext cx="109728"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ACADEMICS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02 / 12</a:t>
            </a:r>
          </a:p>
        </p:txBody>
      </p:sp>
      <p:sp>
        <p:nvSpPr>
          <p:cNvPr id="8" name="Rounded Rectangle 7"/>
          <p:cNvSpPr/>
          <p:nvPr/>
        </p:nvSpPr>
        <p:spPr>
          <a:xfrm>
            <a:off x="6845655" y="786384"/>
            <a:ext cx="4927335"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243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706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5169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ACADEMICS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02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STUDENT LIFE</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03 / 12</a:t>
            </a:r>
          </a:p>
        </p:txBody>
      </p:sp>
      <p:sp>
        <p:nvSpPr>
          <p:cNvPr id="8" name="Rounded Rectangle 7"/>
          <p:cNvSpPr/>
          <p:nvPr/>
        </p:nvSpPr>
        <p:spPr>
          <a:xfrm>
            <a:off x="292608" y="850392"/>
            <a:ext cx="11795760" cy="1371600"/>
          </a:xfrm>
          <a:prstGeom prst="round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 y="786384"/>
            <a:ext cx="11795760" cy="1371600"/>
          </a:xfrm>
          <a:prstGeom prst="roundRect">
            <a:avLst/>
          </a:prstGeom>
          <a:solidFill>
            <a:srgbClr val="660066"/>
          </a:solidFill>
          <a:ln w="2286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841248"/>
            <a:ext cx="91440" cy="126187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02336" y="877824"/>
            <a:ext cx="320040" cy="320040"/>
          </a:xfrm>
          <a:prstGeom prst="round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 y="868680"/>
            <a:ext cx="301752" cy="301752"/>
          </a:xfrm>
          <a:prstGeom prst="rect">
            <a:avLst/>
          </a:prstGeom>
          <a:noFill/>
        </p:spPr>
        <p:txBody>
          <a:bodyPr wrap="square">
            <a:spAutoFit/>
          </a:bodyPr>
          <a:lstStyle/>
          <a:p>
            <a:pPr algn="ctr"/>
            <a:r>
              <a:rPr sz="1800" b="1" i="0">
                <a:solidFill>
                  <a:srgbClr val="4B0082"/>
                </a:solidFill>
                <a:latin typeface="Calibri"/>
              </a:rPr>
              <a:t>"</a:t>
            </a:r>
          </a:p>
        </p:txBody>
      </p:sp>
      <p:sp>
        <p:nvSpPr>
          <p:cNvPr id="13" name="TextBox 12"/>
          <p:cNvSpPr txBox="1"/>
          <p:nvPr/>
        </p:nvSpPr>
        <p:spPr>
          <a:xfrm>
            <a:off x="859536" y="896112"/>
            <a:ext cx="11000232" cy="1188720"/>
          </a:xfrm>
          <a:prstGeom prst="rect">
            <a:avLst/>
          </a:prstGeom>
          <a:noFill/>
        </p:spPr>
        <p:txBody>
          <a:bodyPr wrap="square">
            <a:spAutoFit/>
          </a:bodyPr>
          <a:lstStyle/>
          <a:p>
            <a:pPr algn="l"/>
            <a:r>
              <a:rPr sz="1400" b="0" i="0">
                <a:solidFill>
                  <a:srgbClr val="FFFFFF"/>
                </a:solidFill>
                <a:latin typeface="Calibri"/>
              </a:rPr>
              <a:t>DTU offers a comprehensive range of academic support services, including peer mentoring, academic advising, and study skills programs to ensure students thrive in their studies. The campus features modern facilities, such as the DTU Library, providing access to a vast collection of academic resources, study areas, and collaborative spaces for students to work on projects and team-based assignments. Students can engage with over 100 student organizations, covering a wide range of interests, from cultural and sports clubs to academic and social societies, fostering a sense of community and belonging. DTU Career Services provides expert guidance on resume building, job search strategies, and interviewing techniques to help students transition into their chosen careers.</a:t>
            </a:r>
          </a:p>
        </p:txBody>
      </p:sp>
      <p:sp>
        <p:nvSpPr>
          <p:cNvPr id="14" name="Rounded Rectangle 13"/>
          <p:cNvSpPr/>
          <p:nvPr/>
        </p:nvSpPr>
        <p:spPr>
          <a:xfrm>
            <a:off x="228600" y="2295144"/>
            <a:ext cx="11795760" cy="428853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75720" y="243230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22024" y="243230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68328" y="243230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STUDENT LIFE</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03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RANKINGS AND RECOGNITION</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04 / 12</a:t>
            </a:r>
          </a:p>
        </p:txBody>
      </p:sp>
      <p:sp>
        <p:nvSpPr>
          <p:cNvPr id="8" name="Rectangle 7"/>
          <p:cNvSpPr/>
          <p:nvPr/>
        </p:nvSpPr>
        <p:spPr>
          <a:xfrm>
            <a:off x="274320" y="3643884"/>
            <a:ext cx="1164031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3662172"/>
            <a:ext cx="11640312"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28191" y="3479292"/>
            <a:ext cx="402336" cy="402336"/>
          </a:xfrm>
          <a:prstGeom prst="ellipse">
            <a:avLst/>
          </a:prstGeom>
          <a:solidFill>
            <a:srgbClr val="FFD700"/>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48891"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01927" y="3360420"/>
            <a:ext cx="54864" cy="11887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8620" y="960120"/>
            <a:ext cx="2681478" cy="240030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8" y="1033272"/>
            <a:ext cx="2462022" cy="320040"/>
          </a:xfrm>
          <a:prstGeom prst="rect">
            <a:avLst/>
          </a:prstGeom>
          <a:noFill/>
        </p:spPr>
        <p:txBody>
          <a:bodyPr wrap="square">
            <a:spAutoFit/>
          </a:bodyPr>
          <a:lstStyle/>
          <a:p>
            <a:pPr algn="ctr"/>
            <a:r>
              <a:rPr sz="1200" b="1" i="0">
                <a:solidFill>
                  <a:srgbClr val="FFD700"/>
                </a:solidFill>
                <a:latin typeface="Calibri"/>
              </a:rPr>
              <a:t>2010: RANKED 1ST IN DENMARK FOR ENGINEERING</a:t>
            </a:r>
          </a:p>
        </p:txBody>
      </p:sp>
      <p:sp>
        <p:nvSpPr>
          <p:cNvPr id="15" name="TextBox 14"/>
          <p:cNvSpPr txBox="1"/>
          <p:nvPr/>
        </p:nvSpPr>
        <p:spPr>
          <a:xfrm>
            <a:off x="498348" y="1371600"/>
            <a:ext cx="2462022" cy="1897380"/>
          </a:xfrm>
          <a:prstGeom prst="rect">
            <a:avLst/>
          </a:prstGeom>
          <a:noFill/>
        </p:spPr>
        <p:txBody>
          <a:bodyPr wrap="square">
            <a:spAutoFit/>
          </a:bodyPr>
          <a:lstStyle/>
          <a:p>
            <a:pPr algn="l"/>
            <a:r>
              <a:rPr sz="1250" b="0" i="0">
                <a:solidFill>
                  <a:srgbClr val="AAAAAA"/>
                </a:solidFill>
                <a:latin typeface="Calibri"/>
              </a:rPr>
              <a:t>DTU was ranked 1st in Denmark for engineering programs, solidifying its position as a leading institution in the field, according to the QS World University Rankings.</a:t>
            </a:r>
          </a:p>
        </p:txBody>
      </p:sp>
      <p:sp>
        <p:nvSpPr>
          <p:cNvPr id="16" name="Oval 15"/>
          <p:cNvSpPr/>
          <p:nvPr/>
        </p:nvSpPr>
        <p:spPr>
          <a:xfrm>
            <a:off x="4438269" y="3479292"/>
            <a:ext cx="402336" cy="402336"/>
          </a:xfrm>
          <a:prstGeom prst="ellipse">
            <a:avLst/>
          </a:prstGeom>
          <a:solidFill>
            <a:srgbClr val="FFAA00"/>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58969"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12005" y="3881628"/>
            <a:ext cx="54864" cy="146304"/>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98698" y="4027932"/>
            <a:ext cx="2681478" cy="2400300"/>
          </a:xfrm>
          <a:prstGeom prst="roundRect">
            <a:avLst/>
          </a:prstGeom>
          <a:solidFill>
            <a:srgbClr val="66006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8426" y="4101084"/>
            <a:ext cx="2462022" cy="320040"/>
          </a:xfrm>
          <a:prstGeom prst="rect">
            <a:avLst/>
          </a:prstGeom>
          <a:noFill/>
        </p:spPr>
        <p:txBody>
          <a:bodyPr wrap="square">
            <a:spAutoFit/>
          </a:bodyPr>
          <a:lstStyle/>
          <a:p>
            <a:pPr algn="ctr"/>
            <a:r>
              <a:rPr sz="1200" b="1" i="0">
                <a:solidFill>
                  <a:srgbClr val="FFAA00"/>
                </a:solidFill>
                <a:latin typeface="Calibri"/>
              </a:rPr>
              <a:t>2015: AWARDED THE EU'S HORIZON 2020 FUNDING</a:t>
            </a:r>
          </a:p>
        </p:txBody>
      </p:sp>
      <p:sp>
        <p:nvSpPr>
          <p:cNvPr id="21" name="TextBox 20"/>
          <p:cNvSpPr txBox="1"/>
          <p:nvPr/>
        </p:nvSpPr>
        <p:spPr>
          <a:xfrm>
            <a:off x="3408426" y="4439412"/>
            <a:ext cx="2462022" cy="1897380"/>
          </a:xfrm>
          <a:prstGeom prst="rect">
            <a:avLst/>
          </a:prstGeom>
          <a:noFill/>
        </p:spPr>
        <p:txBody>
          <a:bodyPr wrap="square">
            <a:spAutoFit/>
          </a:bodyPr>
          <a:lstStyle/>
          <a:p>
            <a:pPr algn="l"/>
            <a:r>
              <a:rPr sz="1250" b="0" i="0">
                <a:solidFill>
                  <a:srgbClr val="AAAAAA"/>
                </a:solidFill>
                <a:latin typeface="Calibri"/>
              </a:rPr>
              <a:t>The university received significant funding from the EU's Horizon 2020 program to support innovative research projects, further establishing its reputation as a hub for cutting-edge research and development.</a:t>
            </a:r>
          </a:p>
        </p:txBody>
      </p:sp>
      <p:sp>
        <p:nvSpPr>
          <p:cNvPr id="22" name="Oval 21"/>
          <p:cNvSpPr/>
          <p:nvPr/>
        </p:nvSpPr>
        <p:spPr>
          <a:xfrm>
            <a:off x="7348347" y="3479292"/>
            <a:ext cx="402336" cy="402336"/>
          </a:xfrm>
          <a:prstGeom prst="ellipse">
            <a:avLst/>
          </a:prstGeom>
          <a:solidFill>
            <a:srgbClr val="FFFF00"/>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69047"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22083" y="3360420"/>
            <a:ext cx="54864" cy="118872"/>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08776" y="960120"/>
            <a:ext cx="2681478" cy="2400300"/>
          </a:xfrm>
          <a:prstGeom prst="roundRect">
            <a:avLst/>
          </a:prstGeom>
          <a:solidFill>
            <a:srgbClr val="660066"/>
          </a:solidFill>
          <a:ln w="190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8504" y="1033272"/>
            <a:ext cx="2462022" cy="320040"/>
          </a:xfrm>
          <a:prstGeom prst="rect">
            <a:avLst/>
          </a:prstGeom>
          <a:noFill/>
        </p:spPr>
        <p:txBody>
          <a:bodyPr wrap="square">
            <a:spAutoFit/>
          </a:bodyPr>
          <a:lstStyle/>
          <a:p>
            <a:pPr algn="ctr"/>
            <a:r>
              <a:rPr sz="1200" b="1" i="0">
                <a:solidFill>
                  <a:srgbClr val="FFFF00"/>
                </a:solidFill>
                <a:latin typeface="Calibri"/>
              </a:rPr>
              <a:t>2020: RANKED 44TH GLOBALLY FOR ENGINEERING</a:t>
            </a:r>
          </a:p>
        </p:txBody>
      </p:sp>
      <p:sp>
        <p:nvSpPr>
          <p:cNvPr id="27" name="TextBox 26"/>
          <p:cNvSpPr txBox="1"/>
          <p:nvPr/>
        </p:nvSpPr>
        <p:spPr>
          <a:xfrm>
            <a:off x="6318504" y="1371600"/>
            <a:ext cx="2462022" cy="1897380"/>
          </a:xfrm>
          <a:prstGeom prst="rect">
            <a:avLst/>
          </a:prstGeom>
          <a:noFill/>
        </p:spPr>
        <p:txBody>
          <a:bodyPr wrap="square">
            <a:spAutoFit/>
          </a:bodyPr>
          <a:lstStyle/>
          <a:p>
            <a:pPr algn="l"/>
            <a:r>
              <a:rPr sz="1250" b="0" i="0">
                <a:solidFill>
                  <a:srgbClr val="AAAAAA"/>
                </a:solidFill>
                <a:latin typeface="Calibri"/>
              </a:rPr>
              <a:t>DTU was ranked 44th globally for engineering programs, demonstrating its continued commitment to academic excellence and its dedication to producing highly skilled engineers who can tackle complex global challenges.</a:t>
            </a:r>
          </a:p>
        </p:txBody>
      </p:sp>
      <p:sp>
        <p:nvSpPr>
          <p:cNvPr id="28" name="Oval 27"/>
          <p:cNvSpPr/>
          <p:nvPr/>
        </p:nvSpPr>
        <p:spPr>
          <a:xfrm>
            <a:off x="10258425" y="3479292"/>
            <a:ext cx="402336" cy="402336"/>
          </a:xfrm>
          <a:prstGeom prst="ellipse">
            <a:avLst/>
          </a:prstGeom>
          <a:solidFill>
            <a:srgbClr val="888888"/>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9125"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432161" y="3881628"/>
            <a:ext cx="54864" cy="146304"/>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18854" y="4027932"/>
            <a:ext cx="2681478" cy="2400300"/>
          </a:xfrm>
          <a:prstGeom prst="roundRect">
            <a:avLst/>
          </a:prstGeom>
          <a:solidFill>
            <a:srgbClr val="660066"/>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8582" y="4101084"/>
            <a:ext cx="2462022" cy="320040"/>
          </a:xfrm>
          <a:prstGeom prst="rect">
            <a:avLst/>
          </a:prstGeom>
          <a:noFill/>
        </p:spPr>
        <p:txBody>
          <a:bodyPr wrap="square">
            <a:spAutoFit/>
          </a:bodyPr>
          <a:lstStyle/>
          <a:p>
            <a:pPr algn="ctr"/>
            <a:r>
              <a:rPr sz="1200" b="1" i="0">
                <a:solidFill>
                  <a:srgbClr val="888888"/>
                </a:solidFill>
                <a:latin typeface="Calibri"/>
              </a:rPr>
              <a:t>2022: RECOGNIZED FOR SUSTAINABILITY EFFORTS</a:t>
            </a:r>
          </a:p>
        </p:txBody>
      </p:sp>
      <p:sp>
        <p:nvSpPr>
          <p:cNvPr id="33" name="TextBox 32"/>
          <p:cNvSpPr txBox="1"/>
          <p:nvPr/>
        </p:nvSpPr>
        <p:spPr>
          <a:xfrm>
            <a:off x="9228582" y="4439412"/>
            <a:ext cx="2462022" cy="1897380"/>
          </a:xfrm>
          <a:prstGeom prst="rect">
            <a:avLst/>
          </a:prstGeom>
          <a:noFill/>
        </p:spPr>
        <p:txBody>
          <a:bodyPr wrap="square">
            <a:spAutoFit/>
          </a:bodyPr>
          <a:lstStyle/>
          <a:p>
            <a:pPr algn="l"/>
            <a:r>
              <a:rPr sz="1250" b="0" i="0">
                <a:solidFill>
                  <a:srgbClr val="AAAAAA"/>
                </a:solidFill>
                <a:latin typeface="Calibri"/>
              </a:rPr>
              <a:t>The university was recognized for its efforts in sustainability, earning a prestigious award for its green initiatives and commitment to reducing its carbon footprint.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GLOBAL IMPACT</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05 / 12</a:t>
            </a:r>
          </a:p>
        </p:txBody>
      </p:sp>
      <p:sp>
        <p:nvSpPr>
          <p:cNvPr id="8" name="Rounded Rectangle 7"/>
          <p:cNvSpPr/>
          <p:nvPr/>
        </p:nvSpPr>
        <p:spPr>
          <a:xfrm>
            <a:off x="228600" y="786384"/>
            <a:ext cx="5774436"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886968"/>
            <a:ext cx="5500116" cy="365760"/>
          </a:xfrm>
          <a:prstGeom prst="rect">
            <a:avLst/>
          </a:prstGeom>
          <a:noFill/>
        </p:spPr>
        <p:txBody>
          <a:bodyPr wrap="square">
            <a:spAutoFit/>
          </a:bodyPr>
          <a:lstStyle/>
          <a:p>
            <a:pPr algn="ctr"/>
            <a:r>
              <a:rPr sz="1400" b="1" i="0">
                <a:solidFill>
                  <a:srgbClr val="FFD700"/>
                </a:solidFill>
                <a:latin typeface="Calibri"/>
              </a:rPr>
              <a:t>INTERNATIONAL COLLABORATIONS</a:t>
            </a:r>
          </a:p>
        </p:txBody>
      </p:sp>
      <p:sp>
        <p:nvSpPr>
          <p:cNvPr id="10" name="Rectangle 9"/>
          <p:cNvSpPr/>
          <p:nvPr/>
        </p:nvSpPr>
        <p:spPr>
          <a:xfrm>
            <a:off x="502920" y="1225296"/>
            <a:ext cx="5225796" cy="1828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408176"/>
            <a:ext cx="45720" cy="15514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389888"/>
            <a:ext cx="5362956" cy="274320"/>
          </a:xfrm>
          <a:prstGeom prst="rect">
            <a:avLst/>
          </a:prstGeom>
          <a:noFill/>
        </p:spPr>
        <p:txBody>
          <a:bodyPr wrap="square">
            <a:spAutoFit/>
          </a:bodyPr>
          <a:lstStyle/>
          <a:p>
            <a:pPr algn="l"/>
            <a:r>
              <a:rPr sz="1050" b="1" i="0">
                <a:solidFill>
                  <a:srgbClr val="FFD700"/>
                </a:solidFill>
                <a:latin typeface="Calibri"/>
              </a:rPr>
              <a:t>ERASMUS MUNDUS PROGRAM</a:t>
            </a:r>
          </a:p>
        </p:txBody>
      </p:sp>
      <p:sp>
        <p:nvSpPr>
          <p:cNvPr id="13" name="TextBox 12"/>
          <p:cNvSpPr txBox="1"/>
          <p:nvPr/>
        </p:nvSpPr>
        <p:spPr>
          <a:xfrm>
            <a:off x="502920" y="1591056"/>
            <a:ext cx="5362956" cy="1405128"/>
          </a:xfrm>
          <a:prstGeom prst="rect">
            <a:avLst/>
          </a:prstGeom>
          <a:noFill/>
        </p:spPr>
        <p:txBody>
          <a:bodyPr wrap="square">
            <a:spAutoFit/>
          </a:bodyPr>
          <a:lstStyle/>
          <a:p>
            <a:pPr algn="l"/>
            <a:r>
              <a:rPr sz="1100" b="0" i="0">
                <a:solidFill>
                  <a:srgbClr val="FFFFFF"/>
                </a:solidFill>
                <a:latin typeface="Calibri"/>
              </a:rPr>
              <a:t>DTU participates in the prestigious Erasmus Mundus program, fostering international collaborations and exchange programs with top European universities.</a:t>
            </a:r>
          </a:p>
        </p:txBody>
      </p:sp>
      <p:sp>
        <p:nvSpPr>
          <p:cNvPr id="14" name="Rectangle 13"/>
          <p:cNvSpPr/>
          <p:nvPr/>
        </p:nvSpPr>
        <p:spPr>
          <a:xfrm>
            <a:off x="365760" y="3142488"/>
            <a:ext cx="45720" cy="15514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124200"/>
            <a:ext cx="5362956" cy="274320"/>
          </a:xfrm>
          <a:prstGeom prst="rect">
            <a:avLst/>
          </a:prstGeom>
          <a:noFill/>
        </p:spPr>
        <p:txBody>
          <a:bodyPr wrap="square">
            <a:spAutoFit/>
          </a:bodyPr>
          <a:lstStyle/>
          <a:p>
            <a:pPr algn="l"/>
            <a:r>
              <a:rPr sz="1050" b="1" i="0">
                <a:solidFill>
                  <a:srgbClr val="FFD700"/>
                </a:solidFill>
                <a:latin typeface="Calibri"/>
              </a:rPr>
              <a:t>GLOBAL UNIVERSITY PARTNERS</a:t>
            </a:r>
          </a:p>
        </p:txBody>
      </p:sp>
      <p:sp>
        <p:nvSpPr>
          <p:cNvPr id="16" name="TextBox 15"/>
          <p:cNvSpPr txBox="1"/>
          <p:nvPr/>
        </p:nvSpPr>
        <p:spPr>
          <a:xfrm>
            <a:off x="502920" y="3325368"/>
            <a:ext cx="5362956" cy="1405128"/>
          </a:xfrm>
          <a:prstGeom prst="rect">
            <a:avLst/>
          </a:prstGeom>
          <a:noFill/>
        </p:spPr>
        <p:txBody>
          <a:bodyPr wrap="square">
            <a:spAutoFit/>
          </a:bodyPr>
          <a:lstStyle/>
          <a:p>
            <a:pPr algn="l"/>
            <a:r>
              <a:rPr sz="1100" b="0" i="0">
                <a:solidFill>
                  <a:srgbClr val="FFFFFF"/>
                </a:solidFill>
                <a:latin typeface="Calibri"/>
              </a:rPr>
              <a:t>DTU has established strong partnerships with leading international universities, facilitating research collaborations, joint degree programs, and student mobility.</a:t>
            </a:r>
          </a:p>
        </p:txBody>
      </p:sp>
      <p:sp>
        <p:nvSpPr>
          <p:cNvPr id="17" name="Rectangle 16"/>
          <p:cNvSpPr/>
          <p:nvPr/>
        </p:nvSpPr>
        <p:spPr>
          <a:xfrm>
            <a:off x="365760" y="4876800"/>
            <a:ext cx="45720" cy="15514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858512"/>
            <a:ext cx="5362956" cy="274320"/>
          </a:xfrm>
          <a:prstGeom prst="rect">
            <a:avLst/>
          </a:prstGeom>
          <a:noFill/>
        </p:spPr>
        <p:txBody>
          <a:bodyPr wrap="square">
            <a:spAutoFit/>
          </a:bodyPr>
          <a:lstStyle/>
          <a:p>
            <a:pPr algn="l"/>
            <a:r>
              <a:rPr sz="1050" b="1" i="0">
                <a:solidFill>
                  <a:srgbClr val="FFD700"/>
                </a:solidFill>
                <a:latin typeface="Calibri"/>
              </a:rPr>
              <a:t>RESEARCH NETWORKS</a:t>
            </a:r>
          </a:p>
        </p:txBody>
      </p:sp>
      <p:sp>
        <p:nvSpPr>
          <p:cNvPr id="19" name="TextBox 18"/>
          <p:cNvSpPr txBox="1"/>
          <p:nvPr/>
        </p:nvSpPr>
        <p:spPr>
          <a:xfrm>
            <a:off x="502920" y="5059680"/>
            <a:ext cx="5362956" cy="1405128"/>
          </a:xfrm>
          <a:prstGeom prst="rect">
            <a:avLst/>
          </a:prstGeom>
          <a:noFill/>
        </p:spPr>
        <p:txBody>
          <a:bodyPr wrap="square">
            <a:spAutoFit/>
          </a:bodyPr>
          <a:lstStyle/>
          <a:p>
            <a:pPr algn="l"/>
            <a:r>
              <a:rPr sz="1100" b="0" i="0">
                <a:solidFill>
                  <a:srgbClr val="FFFFFF"/>
                </a:solidFill>
                <a:latin typeface="Calibri"/>
              </a:rPr>
              <a:t>DTU is part of several global research networks, promoting collaboration and knowledge sharing with international partners in cutting-edge fields like AI, sustainability, and biotechnology.</a:t>
            </a:r>
          </a:p>
        </p:txBody>
      </p:sp>
      <p:sp>
        <p:nvSpPr>
          <p:cNvPr id="20" name="Rounded Rectangle 19"/>
          <p:cNvSpPr/>
          <p:nvPr/>
        </p:nvSpPr>
        <p:spPr>
          <a:xfrm>
            <a:off x="6185916" y="786384"/>
            <a:ext cx="5774436" cy="5797296"/>
          </a:xfrm>
          <a:prstGeom prst="roundRect">
            <a:avLst/>
          </a:prstGeom>
          <a:solidFill>
            <a:srgbClr val="66006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3076" y="886968"/>
            <a:ext cx="5500116" cy="365760"/>
          </a:xfrm>
          <a:prstGeom prst="rect">
            <a:avLst/>
          </a:prstGeom>
          <a:noFill/>
        </p:spPr>
        <p:txBody>
          <a:bodyPr wrap="square">
            <a:spAutoFit/>
          </a:bodyPr>
          <a:lstStyle/>
          <a:p>
            <a:pPr algn="ctr"/>
            <a:r>
              <a:rPr sz="1400" b="1" i="0">
                <a:solidFill>
                  <a:srgbClr val="FFAA00"/>
                </a:solidFill>
                <a:latin typeface="Calibri"/>
              </a:rPr>
              <a:t>RESEARCH PARTNERSHIPS</a:t>
            </a:r>
          </a:p>
        </p:txBody>
      </p:sp>
      <p:sp>
        <p:nvSpPr>
          <p:cNvPr id="22" name="Rectangle 21"/>
          <p:cNvSpPr/>
          <p:nvPr/>
        </p:nvSpPr>
        <p:spPr>
          <a:xfrm>
            <a:off x="6460236" y="1225296"/>
            <a:ext cx="5225796" cy="1828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23076" y="1408176"/>
            <a:ext cx="45720" cy="155143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0236" y="1389888"/>
            <a:ext cx="5362956" cy="274320"/>
          </a:xfrm>
          <a:prstGeom prst="rect">
            <a:avLst/>
          </a:prstGeom>
          <a:noFill/>
        </p:spPr>
        <p:txBody>
          <a:bodyPr wrap="square">
            <a:spAutoFit/>
          </a:bodyPr>
          <a:lstStyle/>
          <a:p>
            <a:pPr algn="l"/>
            <a:r>
              <a:rPr sz="1050" b="1" i="0">
                <a:solidFill>
                  <a:srgbClr val="FFAA00"/>
                </a:solidFill>
                <a:latin typeface="Calibri"/>
              </a:rPr>
              <a:t>RESEARCH FUNDING</a:t>
            </a:r>
          </a:p>
        </p:txBody>
      </p:sp>
      <p:sp>
        <p:nvSpPr>
          <p:cNvPr id="25" name="TextBox 24"/>
          <p:cNvSpPr txBox="1"/>
          <p:nvPr/>
        </p:nvSpPr>
        <p:spPr>
          <a:xfrm>
            <a:off x="6460236" y="1591056"/>
            <a:ext cx="5362956" cy="1405128"/>
          </a:xfrm>
          <a:prstGeom prst="rect">
            <a:avLst/>
          </a:prstGeom>
          <a:noFill/>
        </p:spPr>
        <p:txBody>
          <a:bodyPr wrap="square">
            <a:spAutoFit/>
          </a:bodyPr>
          <a:lstStyle/>
          <a:p>
            <a:pPr algn="l"/>
            <a:r>
              <a:rPr sz="1100" b="0" i="0">
                <a:solidFill>
                  <a:srgbClr val="FFFFFF"/>
                </a:solidFill>
                <a:latin typeface="Calibri"/>
              </a:rPr>
              <a:t>DTU attracts significant research funding from international organizations, governments, and private sectors, supporting innovative projects and initiatives.</a:t>
            </a:r>
          </a:p>
        </p:txBody>
      </p:sp>
      <p:sp>
        <p:nvSpPr>
          <p:cNvPr id="26" name="Rectangle 25"/>
          <p:cNvSpPr/>
          <p:nvPr/>
        </p:nvSpPr>
        <p:spPr>
          <a:xfrm>
            <a:off x="6323076" y="3142488"/>
            <a:ext cx="45720" cy="155143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0236" y="3124200"/>
            <a:ext cx="5362956" cy="274320"/>
          </a:xfrm>
          <a:prstGeom prst="rect">
            <a:avLst/>
          </a:prstGeom>
          <a:noFill/>
        </p:spPr>
        <p:txBody>
          <a:bodyPr wrap="square">
            <a:spAutoFit/>
          </a:bodyPr>
          <a:lstStyle/>
          <a:p>
            <a:pPr algn="l"/>
            <a:r>
              <a:rPr sz="1050" b="1" i="0">
                <a:solidFill>
                  <a:srgbClr val="FFAA00"/>
                </a:solidFill>
                <a:latin typeface="Calibri"/>
              </a:rPr>
              <a:t>INDUSTRY PARTNERSHIPS</a:t>
            </a:r>
          </a:p>
        </p:txBody>
      </p:sp>
      <p:sp>
        <p:nvSpPr>
          <p:cNvPr id="28" name="TextBox 27"/>
          <p:cNvSpPr txBox="1"/>
          <p:nvPr/>
        </p:nvSpPr>
        <p:spPr>
          <a:xfrm>
            <a:off x="6460236" y="3325368"/>
            <a:ext cx="5362956" cy="1405128"/>
          </a:xfrm>
          <a:prstGeom prst="rect">
            <a:avLst/>
          </a:prstGeom>
          <a:noFill/>
        </p:spPr>
        <p:txBody>
          <a:bodyPr wrap="square">
            <a:spAutoFit/>
          </a:bodyPr>
          <a:lstStyle/>
          <a:p>
            <a:pPr algn="l"/>
            <a:r>
              <a:rPr sz="1100" b="0" i="0">
                <a:solidFill>
                  <a:srgbClr val="FFFFFF"/>
                </a:solidFill>
                <a:latin typeface="Calibri"/>
              </a:rPr>
              <a:t>DTU collaborates with top companies to develop cutting-edge technologies, ensuring that research outcomes meet industry needs and drive economic growth.</a:t>
            </a:r>
          </a:p>
        </p:txBody>
      </p:sp>
      <p:sp>
        <p:nvSpPr>
          <p:cNvPr id="29" name="Rectangle 28"/>
          <p:cNvSpPr/>
          <p:nvPr/>
        </p:nvSpPr>
        <p:spPr>
          <a:xfrm>
            <a:off x="6323076" y="4876800"/>
            <a:ext cx="45720" cy="155143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0236" y="4858512"/>
            <a:ext cx="5362956" cy="274320"/>
          </a:xfrm>
          <a:prstGeom prst="rect">
            <a:avLst/>
          </a:prstGeom>
          <a:noFill/>
        </p:spPr>
        <p:txBody>
          <a:bodyPr wrap="square">
            <a:spAutoFit/>
          </a:bodyPr>
          <a:lstStyle/>
          <a:p>
            <a:pPr algn="l"/>
            <a:r>
              <a:rPr sz="1050" b="1" i="0">
                <a:solidFill>
                  <a:srgbClr val="FFAA00"/>
                </a:solidFill>
                <a:latin typeface="Calibri"/>
              </a:rPr>
              <a:t>KNOWLEDGE TRANSFER</a:t>
            </a:r>
          </a:p>
        </p:txBody>
      </p:sp>
      <p:sp>
        <p:nvSpPr>
          <p:cNvPr id="31" name="TextBox 30"/>
          <p:cNvSpPr txBox="1"/>
          <p:nvPr/>
        </p:nvSpPr>
        <p:spPr>
          <a:xfrm>
            <a:off x="6460236" y="5059680"/>
            <a:ext cx="5362956" cy="1405128"/>
          </a:xfrm>
          <a:prstGeom prst="rect">
            <a:avLst/>
          </a:prstGeom>
          <a:noFill/>
        </p:spPr>
        <p:txBody>
          <a:bodyPr wrap="square">
            <a:spAutoFit/>
          </a:bodyPr>
          <a:lstStyle/>
          <a:p>
            <a:pPr algn="l"/>
            <a:r>
              <a:rPr sz="1100" b="0" i="0">
                <a:solidFill>
                  <a:srgbClr val="FFFFFF"/>
                </a:solidFill>
                <a:latin typeface="Calibri"/>
              </a:rPr>
              <a:t>DTU's knowledge transfer office supports the commercialization of research results, creating spin-off companies and licensing technologies to industry partners.</a:t>
            </a:r>
          </a:p>
        </p:txBody>
      </p:sp>
      <p:sp>
        <p:nvSpPr>
          <p:cNvPr id="32" name="Rounded Rectangle 31"/>
          <p:cNvSpPr/>
          <p:nvPr/>
        </p:nvSpPr>
        <p:spPr>
          <a:xfrm>
            <a:off x="6048756" y="3227832"/>
            <a:ext cx="91440" cy="91440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3892" y="3483864"/>
            <a:ext cx="201168" cy="411480"/>
          </a:xfrm>
          <a:prstGeom prst="rect">
            <a:avLst/>
          </a:prstGeom>
          <a:noFill/>
        </p:spPr>
        <p:txBody>
          <a:bodyPr wrap="square">
            <a:spAutoFit/>
          </a:bodyPr>
          <a:lstStyle/>
          <a:p>
            <a:pPr algn="ctr"/>
            <a:r>
              <a:rPr sz="900" b="1" i="0">
                <a:solidFill>
                  <a:srgbClr val="FFFFFF"/>
                </a:solidFill>
                <a:latin typeface="Calibri"/>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KEY STATISTICS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06 / 12</a:t>
            </a:r>
          </a:p>
        </p:txBody>
      </p:sp>
      <p:sp>
        <p:nvSpPr>
          <p:cNvPr id="8" name="Rounded Rectangle 7"/>
          <p:cNvSpPr/>
          <p:nvPr/>
        </p:nvSpPr>
        <p:spPr>
          <a:xfrm>
            <a:off x="228600" y="786384"/>
            <a:ext cx="2809494" cy="15087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23544"/>
            <a:ext cx="2626614" cy="777240"/>
          </a:xfrm>
          <a:prstGeom prst="rect">
            <a:avLst/>
          </a:prstGeom>
          <a:noFill/>
        </p:spPr>
        <p:txBody>
          <a:bodyPr wrap="square">
            <a:spAutoFit/>
          </a:bodyPr>
          <a:lstStyle/>
          <a:p>
            <a:pPr algn="ctr"/>
            <a:r>
              <a:rPr sz="3400" b="1" i="0">
                <a:solidFill>
                  <a:srgbClr val="FFD700"/>
                </a:solidFill>
                <a:latin typeface="Calibri"/>
              </a:rPr>
              <a:t>95%</a:t>
            </a:r>
          </a:p>
        </p:txBody>
      </p:sp>
      <p:sp>
        <p:nvSpPr>
          <p:cNvPr id="10" name="Rectangle 9"/>
          <p:cNvSpPr/>
          <p:nvPr/>
        </p:nvSpPr>
        <p:spPr>
          <a:xfrm>
            <a:off x="457200" y="1700784"/>
            <a:ext cx="2352294" cy="1828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1883664"/>
            <a:ext cx="2590038" cy="384048"/>
          </a:xfrm>
          <a:prstGeom prst="rect">
            <a:avLst/>
          </a:prstGeom>
          <a:noFill/>
        </p:spPr>
        <p:txBody>
          <a:bodyPr wrap="square">
            <a:spAutoFit/>
          </a:bodyPr>
          <a:lstStyle/>
          <a:p>
            <a:pPr algn="ctr"/>
            <a:r>
              <a:rPr sz="950" b="0" i="0">
                <a:solidFill>
                  <a:srgbClr val="AAAAAA"/>
                </a:solidFill>
                <a:latin typeface="Calibri"/>
              </a:rPr>
              <a:t>International Student Satisfaction Rate</a:t>
            </a:r>
          </a:p>
        </p:txBody>
      </p:sp>
      <p:sp>
        <p:nvSpPr>
          <p:cNvPr id="12" name="Rounded Rectangle 11"/>
          <p:cNvSpPr/>
          <p:nvPr/>
        </p:nvSpPr>
        <p:spPr>
          <a:xfrm>
            <a:off x="3202686" y="786384"/>
            <a:ext cx="2809494" cy="1508760"/>
          </a:xfrm>
          <a:prstGeom prst="roundRect">
            <a:avLst/>
          </a:prstGeom>
          <a:solidFill>
            <a:srgbClr val="66006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4126" y="923544"/>
            <a:ext cx="2626614" cy="777240"/>
          </a:xfrm>
          <a:prstGeom prst="rect">
            <a:avLst/>
          </a:prstGeom>
          <a:noFill/>
        </p:spPr>
        <p:txBody>
          <a:bodyPr wrap="square">
            <a:spAutoFit/>
          </a:bodyPr>
          <a:lstStyle/>
          <a:p>
            <a:pPr algn="ctr"/>
            <a:r>
              <a:rPr sz="3400" b="1" i="0">
                <a:solidFill>
                  <a:srgbClr val="FFAA00"/>
                </a:solidFill>
                <a:latin typeface="Calibri"/>
              </a:rPr>
              <a:t>80%</a:t>
            </a:r>
          </a:p>
        </p:txBody>
      </p:sp>
      <p:sp>
        <p:nvSpPr>
          <p:cNvPr id="14" name="Rectangle 13"/>
          <p:cNvSpPr/>
          <p:nvPr/>
        </p:nvSpPr>
        <p:spPr>
          <a:xfrm>
            <a:off x="3431286" y="1700784"/>
            <a:ext cx="2352294" cy="1828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2414" y="1883664"/>
            <a:ext cx="2590038" cy="384048"/>
          </a:xfrm>
          <a:prstGeom prst="rect">
            <a:avLst/>
          </a:prstGeom>
          <a:noFill/>
        </p:spPr>
        <p:txBody>
          <a:bodyPr wrap="square">
            <a:spAutoFit/>
          </a:bodyPr>
          <a:lstStyle/>
          <a:p>
            <a:pPr algn="ctr"/>
            <a:r>
              <a:rPr sz="950" b="0" i="0">
                <a:solidFill>
                  <a:srgbClr val="AAAAAA"/>
                </a:solidFill>
                <a:latin typeface="Calibri"/>
              </a:rPr>
              <a:t>Employment Rate for Graduates within 6 months</a:t>
            </a:r>
          </a:p>
        </p:txBody>
      </p:sp>
      <p:sp>
        <p:nvSpPr>
          <p:cNvPr id="16" name="Rounded Rectangle 15"/>
          <p:cNvSpPr/>
          <p:nvPr/>
        </p:nvSpPr>
        <p:spPr>
          <a:xfrm>
            <a:off x="6176772" y="786384"/>
            <a:ext cx="2809494" cy="1508760"/>
          </a:xfrm>
          <a:prstGeom prst="roundRect">
            <a:avLst/>
          </a:prstGeom>
          <a:solidFill>
            <a:srgbClr val="660066"/>
          </a:solidFill>
          <a:ln w="190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8212" y="923544"/>
            <a:ext cx="2626614" cy="777240"/>
          </a:xfrm>
          <a:prstGeom prst="rect">
            <a:avLst/>
          </a:prstGeom>
          <a:noFill/>
        </p:spPr>
        <p:txBody>
          <a:bodyPr wrap="square">
            <a:spAutoFit/>
          </a:bodyPr>
          <a:lstStyle/>
          <a:p>
            <a:pPr algn="ctr"/>
            <a:r>
              <a:rPr sz="3400" b="1" i="0">
                <a:solidFill>
                  <a:srgbClr val="FFFF00"/>
                </a:solidFill>
                <a:latin typeface="Calibri"/>
              </a:rPr>
              <a:t>25</a:t>
            </a:r>
          </a:p>
        </p:txBody>
      </p:sp>
      <p:sp>
        <p:nvSpPr>
          <p:cNvPr id="18" name="Rectangle 17"/>
          <p:cNvSpPr/>
          <p:nvPr/>
        </p:nvSpPr>
        <p:spPr>
          <a:xfrm>
            <a:off x="6405372" y="1700784"/>
            <a:ext cx="2352294" cy="18288"/>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86500" y="1883664"/>
            <a:ext cx="2590038" cy="384048"/>
          </a:xfrm>
          <a:prstGeom prst="rect">
            <a:avLst/>
          </a:prstGeom>
          <a:noFill/>
        </p:spPr>
        <p:txBody>
          <a:bodyPr wrap="square">
            <a:spAutoFit/>
          </a:bodyPr>
          <a:lstStyle/>
          <a:p>
            <a:pPr algn="ctr"/>
            <a:r>
              <a:rPr sz="950" b="0" i="0">
                <a:solidFill>
                  <a:srgbClr val="AAAAAA"/>
                </a:solidFill>
                <a:latin typeface="Calibri"/>
              </a:rPr>
              <a:t>Ranking in the QS World University Rankings by Subject</a:t>
            </a:r>
          </a:p>
        </p:txBody>
      </p:sp>
      <p:sp>
        <p:nvSpPr>
          <p:cNvPr id="20" name="Rounded Rectangle 19"/>
          <p:cNvSpPr/>
          <p:nvPr/>
        </p:nvSpPr>
        <p:spPr>
          <a:xfrm>
            <a:off x="9150858" y="786384"/>
            <a:ext cx="2809494" cy="1508760"/>
          </a:xfrm>
          <a:prstGeom prst="roundRect">
            <a:avLst/>
          </a:prstGeom>
          <a:solidFill>
            <a:srgbClr val="660066"/>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2298" y="923544"/>
            <a:ext cx="2626614" cy="777240"/>
          </a:xfrm>
          <a:prstGeom prst="rect">
            <a:avLst/>
          </a:prstGeom>
          <a:noFill/>
        </p:spPr>
        <p:txBody>
          <a:bodyPr wrap="square">
            <a:spAutoFit/>
          </a:bodyPr>
          <a:lstStyle/>
          <a:p>
            <a:pPr algn="ctr"/>
            <a:r>
              <a:rPr sz="3400" b="1" i="0">
                <a:solidFill>
                  <a:srgbClr val="888888"/>
                </a:solidFill>
                <a:latin typeface="Calibri"/>
              </a:rPr>
              <a:t>€2.5 billion</a:t>
            </a:r>
          </a:p>
        </p:txBody>
      </p:sp>
      <p:sp>
        <p:nvSpPr>
          <p:cNvPr id="22" name="Rectangle 21"/>
          <p:cNvSpPr/>
          <p:nvPr/>
        </p:nvSpPr>
        <p:spPr>
          <a:xfrm>
            <a:off x="9379458" y="1700784"/>
            <a:ext cx="2352294" cy="1828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0586" y="1883664"/>
            <a:ext cx="2590038" cy="384048"/>
          </a:xfrm>
          <a:prstGeom prst="rect">
            <a:avLst/>
          </a:prstGeom>
          <a:noFill/>
        </p:spPr>
        <p:txBody>
          <a:bodyPr wrap="square">
            <a:spAutoFit/>
          </a:bodyPr>
          <a:lstStyle/>
          <a:p>
            <a:pPr algn="ctr"/>
            <a:r>
              <a:rPr sz="950" b="0" i="0">
                <a:solidFill>
                  <a:srgbClr val="AAAAAA"/>
                </a:solidFill>
                <a:latin typeface="Calibri"/>
              </a:rPr>
              <a:t>Annual Research Funding</a:t>
            </a:r>
          </a:p>
        </p:txBody>
      </p:sp>
      <p:sp>
        <p:nvSpPr>
          <p:cNvPr id="24" name="Rounded Rectangle 23"/>
          <p:cNvSpPr/>
          <p:nvPr/>
        </p:nvSpPr>
        <p:spPr>
          <a:xfrm>
            <a:off x="228600" y="2459736"/>
            <a:ext cx="11795760" cy="4123944"/>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475720" y="2596896"/>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622024" y="2596896"/>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768328" y="2596896"/>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KEY STATISTICS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06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JOIN THE DTU COMMUNITY</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07 / 12</a:t>
            </a:r>
          </a:p>
        </p:txBody>
      </p:sp>
      <p:sp>
        <p:nvSpPr>
          <p:cNvPr id="8" name="Rounded Rectangle 7"/>
          <p:cNvSpPr/>
          <p:nvPr/>
        </p:nvSpPr>
        <p:spPr>
          <a:xfrm>
            <a:off x="228600" y="786384"/>
            <a:ext cx="3819144" cy="210312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877824"/>
            <a:ext cx="3544824" cy="365760"/>
          </a:xfrm>
          <a:prstGeom prst="rect">
            <a:avLst/>
          </a:prstGeom>
          <a:noFill/>
        </p:spPr>
        <p:txBody>
          <a:bodyPr wrap="square">
            <a:spAutoFit/>
          </a:bodyPr>
          <a:lstStyle/>
          <a:p>
            <a:pPr algn="l"/>
            <a:r>
              <a:rPr sz="1200" b="1" i="0">
                <a:solidFill>
                  <a:srgbClr val="FFD700"/>
                </a:solidFill>
                <a:latin typeface="Calibri"/>
              </a:rPr>
              <a:t>GLOBAL NETWORK</a:t>
            </a:r>
          </a:p>
        </p:txBody>
      </p:sp>
      <p:sp>
        <p:nvSpPr>
          <p:cNvPr id="10" name="Rectangle 9"/>
          <p:cNvSpPr/>
          <p:nvPr/>
        </p:nvSpPr>
        <p:spPr>
          <a:xfrm>
            <a:off x="365760" y="1170432"/>
            <a:ext cx="3544824" cy="1828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73424" y="923544"/>
            <a:ext cx="137160" cy="13716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5760" y="1298448"/>
            <a:ext cx="182880" cy="18288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307592"/>
            <a:ext cx="182880" cy="164592"/>
          </a:xfrm>
          <a:prstGeom prst="rect">
            <a:avLst/>
          </a:prstGeom>
          <a:noFill/>
        </p:spPr>
        <p:txBody>
          <a:bodyPr wrap="square">
            <a:spAutoFit/>
          </a:bodyPr>
          <a:lstStyle/>
          <a:p>
            <a:pPr algn="ctr"/>
            <a:r>
              <a:rPr sz="900" b="1" i="0">
                <a:solidFill>
                  <a:srgbClr val="4B0082"/>
                </a:solidFill>
                <a:latin typeface="Calibri"/>
              </a:rPr>
              <a:t>1</a:t>
            </a:r>
          </a:p>
        </p:txBody>
      </p:sp>
      <p:sp>
        <p:nvSpPr>
          <p:cNvPr id="14" name="TextBox 13"/>
          <p:cNvSpPr txBox="1"/>
          <p:nvPr/>
        </p:nvSpPr>
        <p:spPr>
          <a:xfrm>
            <a:off x="612648" y="1261872"/>
            <a:ext cx="3316224" cy="1563624"/>
          </a:xfrm>
          <a:prstGeom prst="rect">
            <a:avLst/>
          </a:prstGeom>
          <a:noFill/>
        </p:spPr>
        <p:txBody>
          <a:bodyPr wrap="square">
            <a:spAutoFit/>
          </a:bodyPr>
          <a:lstStyle/>
          <a:p>
            <a:pPr algn="l"/>
            <a:r>
              <a:rPr sz="1150" b="0" i="0">
                <a:solidFill>
                  <a:srgbClr val="FFFFFF"/>
                </a:solidFill>
                <a:latin typeface="Calibri"/>
              </a:rPr>
              <a:t>As one of the top universities in Denmark, DTU has established partnerships with over 200 institutions worldwide, fostering international collaboration and research opportunities for students and faculty.</a:t>
            </a:r>
          </a:p>
        </p:txBody>
      </p:sp>
      <p:sp>
        <p:nvSpPr>
          <p:cNvPr id="15" name="Rounded Rectangle 14"/>
          <p:cNvSpPr/>
          <p:nvPr/>
        </p:nvSpPr>
        <p:spPr>
          <a:xfrm>
            <a:off x="4184904" y="786384"/>
            <a:ext cx="3819144" cy="2103120"/>
          </a:xfrm>
          <a:prstGeom prst="roundRect">
            <a:avLst/>
          </a:prstGeom>
          <a:solidFill>
            <a:srgbClr val="66006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2064" y="877824"/>
            <a:ext cx="3544824" cy="365760"/>
          </a:xfrm>
          <a:prstGeom prst="rect">
            <a:avLst/>
          </a:prstGeom>
          <a:noFill/>
        </p:spPr>
        <p:txBody>
          <a:bodyPr wrap="square">
            <a:spAutoFit/>
          </a:bodyPr>
          <a:lstStyle/>
          <a:p>
            <a:pPr algn="l"/>
            <a:r>
              <a:rPr sz="1200" b="1" i="0">
                <a:solidFill>
                  <a:srgbClr val="FFAA00"/>
                </a:solidFill>
                <a:latin typeface="Calibri"/>
              </a:rPr>
              <a:t>RESEARCH AMBITIONS</a:t>
            </a:r>
          </a:p>
        </p:txBody>
      </p:sp>
      <p:sp>
        <p:nvSpPr>
          <p:cNvPr id="17" name="Rectangle 16"/>
          <p:cNvSpPr/>
          <p:nvPr/>
        </p:nvSpPr>
        <p:spPr>
          <a:xfrm>
            <a:off x="4322064" y="1170432"/>
            <a:ext cx="3544824" cy="1828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29728" y="923544"/>
            <a:ext cx="137160" cy="137160"/>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322064" y="1298448"/>
            <a:ext cx="182880" cy="182880"/>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2064" y="1307592"/>
            <a:ext cx="182880" cy="164592"/>
          </a:xfrm>
          <a:prstGeom prst="rect">
            <a:avLst/>
          </a:prstGeom>
          <a:noFill/>
        </p:spPr>
        <p:txBody>
          <a:bodyPr wrap="square">
            <a:spAutoFit/>
          </a:bodyPr>
          <a:lstStyle/>
          <a:p>
            <a:pPr algn="ctr"/>
            <a:r>
              <a:rPr sz="900" b="1" i="0">
                <a:solidFill>
                  <a:srgbClr val="4B0082"/>
                </a:solidFill>
                <a:latin typeface="Calibri"/>
              </a:rPr>
              <a:t>1</a:t>
            </a:r>
          </a:p>
        </p:txBody>
      </p:sp>
      <p:sp>
        <p:nvSpPr>
          <p:cNvPr id="21" name="TextBox 20"/>
          <p:cNvSpPr txBox="1"/>
          <p:nvPr/>
        </p:nvSpPr>
        <p:spPr>
          <a:xfrm>
            <a:off x="4568952" y="1261872"/>
            <a:ext cx="3316224" cy="1563624"/>
          </a:xfrm>
          <a:prstGeom prst="rect">
            <a:avLst/>
          </a:prstGeom>
          <a:noFill/>
        </p:spPr>
        <p:txBody>
          <a:bodyPr wrap="square">
            <a:spAutoFit/>
          </a:bodyPr>
          <a:lstStyle/>
          <a:p>
            <a:pPr algn="l"/>
            <a:r>
              <a:rPr sz="1150" b="0" i="0">
                <a:solidFill>
                  <a:srgbClr val="FFFFFF"/>
                </a:solidFill>
                <a:latin typeface="Calibri"/>
              </a:rPr>
              <a:t>With a strong focus on innovation and entrepreneurship, DTU is driving technological advancements in fields like renewable energy, biotechnology, and materials science, creating a dynamic ecosystem for students to grow and thrive.</a:t>
            </a:r>
          </a:p>
        </p:txBody>
      </p:sp>
      <p:sp>
        <p:nvSpPr>
          <p:cNvPr id="22" name="Rounded Rectangle 21"/>
          <p:cNvSpPr/>
          <p:nvPr/>
        </p:nvSpPr>
        <p:spPr>
          <a:xfrm>
            <a:off x="8141208" y="786384"/>
            <a:ext cx="3819144" cy="2103120"/>
          </a:xfrm>
          <a:prstGeom prst="roundRect">
            <a:avLst/>
          </a:prstGeom>
          <a:solidFill>
            <a:srgbClr val="660066"/>
          </a:solidFill>
          <a:ln w="190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8368" y="877824"/>
            <a:ext cx="3544824" cy="365760"/>
          </a:xfrm>
          <a:prstGeom prst="rect">
            <a:avLst/>
          </a:prstGeom>
          <a:noFill/>
        </p:spPr>
        <p:txBody>
          <a:bodyPr wrap="square">
            <a:spAutoFit/>
          </a:bodyPr>
          <a:lstStyle/>
          <a:p>
            <a:pPr algn="l"/>
            <a:r>
              <a:rPr sz="1200" b="1" i="0">
                <a:solidFill>
                  <a:srgbClr val="FFFF00"/>
                </a:solidFill>
                <a:latin typeface="Calibri"/>
              </a:rPr>
              <a:t>INNOVATIVE CAMPUS</a:t>
            </a:r>
          </a:p>
        </p:txBody>
      </p:sp>
      <p:sp>
        <p:nvSpPr>
          <p:cNvPr id="24" name="Rectangle 23"/>
          <p:cNvSpPr/>
          <p:nvPr/>
        </p:nvSpPr>
        <p:spPr>
          <a:xfrm>
            <a:off x="8278368" y="1170432"/>
            <a:ext cx="3544824" cy="18288"/>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686032" y="923544"/>
            <a:ext cx="137160" cy="137160"/>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78368" y="1298448"/>
            <a:ext cx="182880" cy="182880"/>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8368" y="1307592"/>
            <a:ext cx="182880" cy="164592"/>
          </a:xfrm>
          <a:prstGeom prst="rect">
            <a:avLst/>
          </a:prstGeom>
          <a:noFill/>
        </p:spPr>
        <p:txBody>
          <a:bodyPr wrap="square">
            <a:spAutoFit/>
          </a:bodyPr>
          <a:lstStyle/>
          <a:p>
            <a:pPr algn="ctr"/>
            <a:r>
              <a:rPr sz="900" b="1" i="0">
                <a:solidFill>
                  <a:srgbClr val="4B0082"/>
                </a:solidFill>
                <a:latin typeface="Calibri"/>
              </a:rPr>
              <a:t>1</a:t>
            </a:r>
          </a:p>
        </p:txBody>
      </p:sp>
      <p:sp>
        <p:nvSpPr>
          <p:cNvPr id="28" name="TextBox 27"/>
          <p:cNvSpPr txBox="1"/>
          <p:nvPr/>
        </p:nvSpPr>
        <p:spPr>
          <a:xfrm>
            <a:off x="8525256" y="1261872"/>
            <a:ext cx="3316224" cy="1563624"/>
          </a:xfrm>
          <a:prstGeom prst="rect">
            <a:avLst/>
          </a:prstGeom>
          <a:noFill/>
        </p:spPr>
        <p:txBody>
          <a:bodyPr wrap="square">
            <a:spAutoFit/>
          </a:bodyPr>
          <a:lstStyle/>
          <a:p>
            <a:pPr algn="l"/>
            <a:r>
              <a:rPr sz="1150" b="0" i="0">
                <a:solidFill>
                  <a:srgbClr val="FFFFFF"/>
                </a:solidFill>
                <a:latin typeface="Calibri"/>
              </a:rPr>
              <a:t>DTU's campus is a hub for creativity and experimentation, featuring state-of-the-art facilities, such as the Innovation Hub, the DTU Skylab, and the DTU Library, providing students with access to cutting-edge tools and resources.</a:t>
            </a:r>
          </a:p>
        </p:txBody>
      </p:sp>
      <p:sp>
        <p:nvSpPr>
          <p:cNvPr id="29" name="Rounded Rectangle 28"/>
          <p:cNvSpPr/>
          <p:nvPr/>
        </p:nvSpPr>
        <p:spPr>
          <a:xfrm>
            <a:off x="228600" y="3072384"/>
            <a:ext cx="11731752" cy="3511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411712" y="3209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558016" y="3209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704320" y="3209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JOIN THE DTU COMMUNITY</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07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CONCLUSION</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08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CONCLUSION</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08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DTU VS. COMPETITORS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09 / 12</a:t>
            </a:r>
          </a:p>
        </p:txBody>
      </p:sp>
      <p:sp>
        <p:nvSpPr>
          <p:cNvPr id="8" name="Rounded Rectangle 7"/>
          <p:cNvSpPr/>
          <p:nvPr/>
        </p:nvSpPr>
        <p:spPr>
          <a:xfrm>
            <a:off x="228600" y="786384"/>
            <a:ext cx="5774436" cy="3188512"/>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886968"/>
            <a:ext cx="5500116" cy="365760"/>
          </a:xfrm>
          <a:prstGeom prst="rect">
            <a:avLst/>
          </a:prstGeom>
          <a:noFill/>
        </p:spPr>
        <p:txBody>
          <a:bodyPr wrap="square">
            <a:spAutoFit/>
          </a:bodyPr>
          <a:lstStyle/>
          <a:p>
            <a:pPr algn="ctr"/>
            <a:r>
              <a:rPr sz="1400" b="1" i="0">
                <a:solidFill>
                  <a:srgbClr val="FFD700"/>
                </a:solidFill>
                <a:latin typeface="Calibri"/>
              </a:rPr>
              <a:t>DANMARKS TEKNISKE UNIVERSITET</a:t>
            </a:r>
          </a:p>
        </p:txBody>
      </p:sp>
      <p:sp>
        <p:nvSpPr>
          <p:cNvPr id="10" name="Rectangle 9"/>
          <p:cNvSpPr/>
          <p:nvPr/>
        </p:nvSpPr>
        <p:spPr>
          <a:xfrm>
            <a:off x="502920" y="1225296"/>
            <a:ext cx="5225796" cy="1828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408176"/>
            <a:ext cx="45720" cy="681837"/>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389888"/>
            <a:ext cx="5362956" cy="274320"/>
          </a:xfrm>
          <a:prstGeom prst="rect">
            <a:avLst/>
          </a:prstGeom>
          <a:noFill/>
        </p:spPr>
        <p:txBody>
          <a:bodyPr wrap="square">
            <a:spAutoFit/>
          </a:bodyPr>
          <a:lstStyle/>
          <a:p>
            <a:pPr algn="l"/>
            <a:r>
              <a:rPr sz="1050" b="1" i="0">
                <a:solidFill>
                  <a:srgbClr val="FFD700"/>
                </a:solidFill>
                <a:latin typeface="Calibri"/>
              </a:rPr>
              <a:t>ENGINEERING RANKINGS</a:t>
            </a:r>
          </a:p>
        </p:txBody>
      </p:sp>
      <p:sp>
        <p:nvSpPr>
          <p:cNvPr id="13" name="TextBox 12"/>
          <p:cNvSpPr txBox="1"/>
          <p:nvPr/>
        </p:nvSpPr>
        <p:spPr>
          <a:xfrm>
            <a:off x="502920" y="1591056"/>
            <a:ext cx="5362956" cy="535533"/>
          </a:xfrm>
          <a:prstGeom prst="rect">
            <a:avLst/>
          </a:prstGeom>
          <a:noFill/>
        </p:spPr>
        <p:txBody>
          <a:bodyPr wrap="square">
            <a:spAutoFit/>
          </a:bodyPr>
          <a:lstStyle/>
          <a:p>
            <a:pPr algn="l"/>
            <a:r>
              <a:rPr sz="1100" b="0" i="0">
                <a:solidFill>
                  <a:srgbClr val="FFFFFF"/>
                </a:solidFill>
                <a:latin typeface="Calibri"/>
              </a:rPr>
              <a:t>DTU consistently ranks among the top 10 engineering universities in Europe, while competitors like ETH Zurich and EPFL trail behind in specific disciplines.</a:t>
            </a:r>
          </a:p>
        </p:txBody>
      </p:sp>
      <p:sp>
        <p:nvSpPr>
          <p:cNvPr id="14" name="Rectangle 13"/>
          <p:cNvSpPr/>
          <p:nvPr/>
        </p:nvSpPr>
        <p:spPr>
          <a:xfrm>
            <a:off x="365760" y="2272893"/>
            <a:ext cx="45720" cy="681837"/>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254605"/>
            <a:ext cx="5362956" cy="274320"/>
          </a:xfrm>
          <a:prstGeom prst="rect">
            <a:avLst/>
          </a:prstGeom>
          <a:noFill/>
        </p:spPr>
        <p:txBody>
          <a:bodyPr wrap="square">
            <a:spAutoFit/>
          </a:bodyPr>
          <a:lstStyle/>
          <a:p>
            <a:pPr algn="l"/>
            <a:r>
              <a:rPr sz="1050" b="1" i="0">
                <a:solidFill>
                  <a:srgbClr val="FFD700"/>
                </a:solidFill>
                <a:latin typeface="Calibri"/>
              </a:rPr>
              <a:t>RESEARCH OUTPUT</a:t>
            </a:r>
          </a:p>
        </p:txBody>
      </p:sp>
      <p:sp>
        <p:nvSpPr>
          <p:cNvPr id="16" name="TextBox 15"/>
          <p:cNvSpPr txBox="1"/>
          <p:nvPr/>
        </p:nvSpPr>
        <p:spPr>
          <a:xfrm>
            <a:off x="502920" y="2455773"/>
            <a:ext cx="5362956" cy="535533"/>
          </a:xfrm>
          <a:prstGeom prst="rect">
            <a:avLst/>
          </a:prstGeom>
          <a:noFill/>
        </p:spPr>
        <p:txBody>
          <a:bodyPr wrap="square">
            <a:spAutoFit/>
          </a:bodyPr>
          <a:lstStyle/>
          <a:p>
            <a:pPr algn="l"/>
            <a:r>
              <a:rPr sz="1100" b="0" i="0">
                <a:solidFill>
                  <a:srgbClr val="FFFFFF"/>
                </a:solidFill>
                <a:latin typeface="Calibri"/>
              </a:rPr>
              <a:t>DTU publishes a higher number of high-impact research papers compared to many of its European peers, cementing its position as a leading research institution.</a:t>
            </a:r>
          </a:p>
        </p:txBody>
      </p:sp>
      <p:sp>
        <p:nvSpPr>
          <p:cNvPr id="17" name="Rectangle 16"/>
          <p:cNvSpPr/>
          <p:nvPr/>
        </p:nvSpPr>
        <p:spPr>
          <a:xfrm>
            <a:off x="365760" y="3137611"/>
            <a:ext cx="45720" cy="681837"/>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119323"/>
            <a:ext cx="5362956" cy="274320"/>
          </a:xfrm>
          <a:prstGeom prst="rect">
            <a:avLst/>
          </a:prstGeom>
          <a:noFill/>
        </p:spPr>
        <p:txBody>
          <a:bodyPr wrap="square">
            <a:spAutoFit/>
          </a:bodyPr>
          <a:lstStyle/>
          <a:p>
            <a:pPr algn="l"/>
            <a:r>
              <a:rPr sz="1050" b="1" i="0">
                <a:solidFill>
                  <a:srgbClr val="FFD700"/>
                </a:solidFill>
                <a:latin typeface="Calibri"/>
              </a:rPr>
              <a:t>STUDENT SATISFACTION</a:t>
            </a:r>
          </a:p>
        </p:txBody>
      </p:sp>
      <p:sp>
        <p:nvSpPr>
          <p:cNvPr id="19" name="TextBox 18"/>
          <p:cNvSpPr txBox="1"/>
          <p:nvPr/>
        </p:nvSpPr>
        <p:spPr>
          <a:xfrm>
            <a:off x="502920" y="3320491"/>
            <a:ext cx="5362956" cy="535533"/>
          </a:xfrm>
          <a:prstGeom prst="rect">
            <a:avLst/>
          </a:prstGeom>
          <a:noFill/>
        </p:spPr>
        <p:txBody>
          <a:bodyPr wrap="square">
            <a:spAutoFit/>
          </a:bodyPr>
          <a:lstStyle/>
          <a:p>
            <a:pPr algn="l"/>
            <a:r>
              <a:rPr sz="1100" b="0" i="0">
                <a:solidFill>
                  <a:srgbClr val="FFFFFF"/>
                </a:solidFill>
                <a:latin typeface="Calibri"/>
              </a:rPr>
              <a:t>DTU students report higher satisfaction rates with their overall education experience, including academic support and campus facilities, compared to many rival universities.</a:t>
            </a:r>
          </a:p>
        </p:txBody>
      </p:sp>
      <p:sp>
        <p:nvSpPr>
          <p:cNvPr id="20" name="Rounded Rectangle 19"/>
          <p:cNvSpPr/>
          <p:nvPr/>
        </p:nvSpPr>
        <p:spPr>
          <a:xfrm>
            <a:off x="6185916" y="786384"/>
            <a:ext cx="5774436" cy="3188512"/>
          </a:xfrm>
          <a:prstGeom prst="roundRect">
            <a:avLst/>
          </a:prstGeom>
          <a:solidFill>
            <a:srgbClr val="66006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3076" y="886968"/>
            <a:ext cx="5500116" cy="365760"/>
          </a:xfrm>
          <a:prstGeom prst="rect">
            <a:avLst/>
          </a:prstGeom>
          <a:noFill/>
        </p:spPr>
        <p:txBody>
          <a:bodyPr wrap="square">
            <a:spAutoFit/>
          </a:bodyPr>
          <a:lstStyle/>
          <a:p>
            <a:pPr algn="ctr"/>
            <a:r>
              <a:rPr sz="1400" b="1" i="0">
                <a:solidFill>
                  <a:srgbClr val="FFAA00"/>
                </a:solidFill>
                <a:latin typeface="Calibri"/>
              </a:rPr>
              <a:t>TOP EUROPEAN COMPETITORS</a:t>
            </a:r>
          </a:p>
        </p:txBody>
      </p:sp>
      <p:sp>
        <p:nvSpPr>
          <p:cNvPr id="22" name="Rectangle 21"/>
          <p:cNvSpPr/>
          <p:nvPr/>
        </p:nvSpPr>
        <p:spPr>
          <a:xfrm>
            <a:off x="6460236" y="1225296"/>
            <a:ext cx="5225796" cy="1828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23076" y="1408176"/>
            <a:ext cx="45720" cy="681837"/>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0236" y="1389888"/>
            <a:ext cx="5362956" cy="274320"/>
          </a:xfrm>
          <a:prstGeom prst="rect">
            <a:avLst/>
          </a:prstGeom>
          <a:noFill/>
        </p:spPr>
        <p:txBody>
          <a:bodyPr wrap="square">
            <a:spAutoFit/>
          </a:bodyPr>
          <a:lstStyle/>
          <a:p>
            <a:pPr algn="l"/>
            <a:r>
              <a:rPr sz="1050" b="1" i="0">
                <a:solidFill>
                  <a:srgbClr val="FFAA00"/>
                </a:solidFill>
                <a:latin typeface="Calibri"/>
              </a:rPr>
              <a:t>ENGINEERING RANKINGS</a:t>
            </a:r>
          </a:p>
        </p:txBody>
      </p:sp>
      <p:sp>
        <p:nvSpPr>
          <p:cNvPr id="25" name="TextBox 24"/>
          <p:cNvSpPr txBox="1"/>
          <p:nvPr/>
        </p:nvSpPr>
        <p:spPr>
          <a:xfrm>
            <a:off x="6460236" y="1591056"/>
            <a:ext cx="5362956" cy="535533"/>
          </a:xfrm>
          <a:prstGeom prst="rect">
            <a:avLst/>
          </a:prstGeom>
          <a:noFill/>
        </p:spPr>
        <p:txBody>
          <a:bodyPr wrap="square">
            <a:spAutoFit/>
          </a:bodyPr>
          <a:lstStyle/>
          <a:p>
            <a:pPr algn="l"/>
            <a:r>
              <a:rPr sz="1100" b="0" i="0">
                <a:solidFill>
                  <a:srgbClr val="FFFFFF"/>
                </a:solidFill>
                <a:latin typeface="Calibri"/>
              </a:rPr>
              <a:t>Despite strong overall rankings, ETH Zurich and EPFL excel in specific areas of engineering, such as robotics and computer science.</a:t>
            </a:r>
          </a:p>
        </p:txBody>
      </p:sp>
      <p:sp>
        <p:nvSpPr>
          <p:cNvPr id="26" name="Rectangle 25"/>
          <p:cNvSpPr/>
          <p:nvPr/>
        </p:nvSpPr>
        <p:spPr>
          <a:xfrm>
            <a:off x="6323076" y="2272893"/>
            <a:ext cx="45720" cy="681837"/>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0236" y="2254605"/>
            <a:ext cx="5362956" cy="274320"/>
          </a:xfrm>
          <a:prstGeom prst="rect">
            <a:avLst/>
          </a:prstGeom>
          <a:noFill/>
        </p:spPr>
        <p:txBody>
          <a:bodyPr wrap="square">
            <a:spAutoFit/>
          </a:bodyPr>
          <a:lstStyle/>
          <a:p>
            <a:pPr algn="l"/>
            <a:r>
              <a:rPr sz="1050" b="1" i="0">
                <a:solidFill>
                  <a:srgbClr val="FFAA00"/>
                </a:solidFill>
                <a:latin typeface="Calibri"/>
              </a:rPr>
              <a:t>RESEARCH OUTPUT</a:t>
            </a:r>
          </a:p>
        </p:txBody>
      </p:sp>
      <p:sp>
        <p:nvSpPr>
          <p:cNvPr id="28" name="TextBox 27"/>
          <p:cNvSpPr txBox="1"/>
          <p:nvPr/>
        </p:nvSpPr>
        <p:spPr>
          <a:xfrm>
            <a:off x="6460236" y="2455773"/>
            <a:ext cx="5362956" cy="535533"/>
          </a:xfrm>
          <a:prstGeom prst="rect">
            <a:avLst/>
          </a:prstGeom>
          <a:noFill/>
        </p:spPr>
        <p:txBody>
          <a:bodyPr wrap="square">
            <a:spAutoFit/>
          </a:bodyPr>
          <a:lstStyle/>
          <a:p>
            <a:pPr algn="l"/>
            <a:r>
              <a:rPr sz="1100" b="0" i="0">
                <a:solidFill>
                  <a:srgbClr val="FFFFFF"/>
                </a:solidFill>
                <a:latin typeface="Calibri"/>
              </a:rPr>
              <a:t>While DTU leads in research output, other top European universities like Cambridge and Oxford publish a higher number of papers in certain fields.</a:t>
            </a:r>
          </a:p>
        </p:txBody>
      </p:sp>
      <p:sp>
        <p:nvSpPr>
          <p:cNvPr id="29" name="Rectangle 28"/>
          <p:cNvSpPr/>
          <p:nvPr/>
        </p:nvSpPr>
        <p:spPr>
          <a:xfrm>
            <a:off x="6323076" y="3137611"/>
            <a:ext cx="45720" cy="681837"/>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0236" y="3119323"/>
            <a:ext cx="5362956" cy="274320"/>
          </a:xfrm>
          <a:prstGeom prst="rect">
            <a:avLst/>
          </a:prstGeom>
          <a:noFill/>
        </p:spPr>
        <p:txBody>
          <a:bodyPr wrap="square">
            <a:spAutoFit/>
          </a:bodyPr>
          <a:lstStyle/>
          <a:p>
            <a:pPr algn="l"/>
            <a:r>
              <a:rPr sz="1050" b="1" i="0">
                <a:solidFill>
                  <a:srgbClr val="FFAA00"/>
                </a:solidFill>
                <a:latin typeface="Calibri"/>
              </a:rPr>
              <a:t>STUDENT SATISFACTION</a:t>
            </a:r>
          </a:p>
        </p:txBody>
      </p:sp>
      <p:sp>
        <p:nvSpPr>
          <p:cNvPr id="31" name="TextBox 30"/>
          <p:cNvSpPr txBox="1"/>
          <p:nvPr/>
        </p:nvSpPr>
        <p:spPr>
          <a:xfrm>
            <a:off x="6460236" y="3320491"/>
            <a:ext cx="5362956" cy="535533"/>
          </a:xfrm>
          <a:prstGeom prst="rect">
            <a:avLst/>
          </a:prstGeom>
          <a:noFill/>
        </p:spPr>
        <p:txBody>
          <a:bodyPr wrap="square">
            <a:spAutoFit/>
          </a:bodyPr>
          <a:lstStyle/>
          <a:p>
            <a:pPr algn="l"/>
            <a:r>
              <a:rPr sz="1100" b="0" i="0">
                <a:solidFill>
                  <a:srgbClr val="FFFFFF"/>
                </a:solidFill>
                <a:latin typeface="Calibri"/>
              </a:rPr>
              <a:t>Student satisfaction rates vary across rival universities, with some institutions excelling in student engagement and campus life, while others struggle with academic support.</a:t>
            </a:r>
          </a:p>
        </p:txBody>
      </p:sp>
      <p:sp>
        <p:nvSpPr>
          <p:cNvPr id="32" name="Rounded Rectangle 31"/>
          <p:cNvSpPr/>
          <p:nvPr/>
        </p:nvSpPr>
        <p:spPr>
          <a:xfrm>
            <a:off x="6048756" y="1923440"/>
            <a:ext cx="91440" cy="91440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3892" y="2179472"/>
            <a:ext cx="201168" cy="411480"/>
          </a:xfrm>
          <a:prstGeom prst="rect">
            <a:avLst/>
          </a:prstGeom>
          <a:noFill/>
        </p:spPr>
        <p:txBody>
          <a:bodyPr wrap="square">
            <a:spAutoFit/>
          </a:bodyPr>
          <a:lstStyle/>
          <a:p>
            <a:pPr algn="ctr"/>
            <a:r>
              <a:rPr sz="900" b="1" i="0">
                <a:solidFill>
                  <a:srgbClr val="FFFFFF"/>
                </a:solidFill>
                <a:latin typeface="Calibri"/>
              </a:rPr>
              <a:t>VS</a:t>
            </a:r>
          </a:p>
        </p:txBody>
      </p:sp>
      <p:sp>
        <p:nvSpPr>
          <p:cNvPr id="34" name="Rounded Rectangle 33"/>
          <p:cNvSpPr/>
          <p:nvPr/>
        </p:nvSpPr>
        <p:spPr>
          <a:xfrm>
            <a:off x="228600" y="4112056"/>
            <a:ext cx="11795760" cy="2471623"/>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475720" y="4249216"/>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622024" y="4249216"/>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768328" y="4249216"/>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DTU VS. COMPETITORS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09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FUTURE PLANS AND INITIATIVES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10 / 12</a:t>
            </a:r>
          </a:p>
        </p:txBody>
      </p:sp>
      <p:sp>
        <p:nvSpPr>
          <p:cNvPr id="8" name="Rectangle 7"/>
          <p:cNvSpPr/>
          <p:nvPr/>
        </p:nvSpPr>
        <p:spPr>
          <a:xfrm>
            <a:off x="274320" y="3643884"/>
            <a:ext cx="1164031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3662172"/>
            <a:ext cx="11640312"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28191" y="3479292"/>
            <a:ext cx="402336" cy="402336"/>
          </a:xfrm>
          <a:prstGeom prst="ellipse">
            <a:avLst/>
          </a:prstGeom>
          <a:solidFill>
            <a:srgbClr val="FFD700"/>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48891"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01927" y="3360420"/>
            <a:ext cx="54864" cy="11887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8620" y="960120"/>
            <a:ext cx="2681478" cy="240030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8" y="1033272"/>
            <a:ext cx="2462022" cy="320040"/>
          </a:xfrm>
          <a:prstGeom prst="rect">
            <a:avLst/>
          </a:prstGeom>
          <a:noFill/>
        </p:spPr>
        <p:txBody>
          <a:bodyPr wrap="square">
            <a:spAutoFit/>
          </a:bodyPr>
          <a:lstStyle/>
          <a:p>
            <a:pPr algn="ctr"/>
            <a:r>
              <a:rPr sz="1200" b="1" i="0">
                <a:solidFill>
                  <a:srgbClr val="FFD700"/>
                </a:solidFill>
                <a:latin typeface="Calibri"/>
              </a:rPr>
              <a:t>2025-2030</a:t>
            </a:r>
          </a:p>
        </p:txBody>
      </p:sp>
      <p:sp>
        <p:nvSpPr>
          <p:cNvPr id="15" name="TextBox 14"/>
          <p:cNvSpPr txBox="1"/>
          <p:nvPr/>
        </p:nvSpPr>
        <p:spPr>
          <a:xfrm>
            <a:off x="498348" y="1371600"/>
            <a:ext cx="2462022" cy="1897380"/>
          </a:xfrm>
          <a:prstGeom prst="rect">
            <a:avLst/>
          </a:prstGeom>
          <a:noFill/>
        </p:spPr>
        <p:txBody>
          <a:bodyPr wrap="square">
            <a:spAutoFit/>
          </a:bodyPr>
          <a:lstStyle/>
          <a:p>
            <a:pPr algn="l"/>
            <a:r>
              <a:rPr sz="1250" b="0" i="0">
                <a:solidFill>
                  <a:srgbClr val="AAAAAA"/>
                </a:solidFill>
                <a:latin typeface="Calibri"/>
              </a:rPr>
              <a:t>DTU will establish new research centers focused on sustainability, artificial intelligence, and biotechnology, further solidifying its position as a global leader in research and innovation.</a:t>
            </a:r>
          </a:p>
        </p:txBody>
      </p:sp>
      <p:sp>
        <p:nvSpPr>
          <p:cNvPr id="16" name="Oval 15"/>
          <p:cNvSpPr/>
          <p:nvPr/>
        </p:nvSpPr>
        <p:spPr>
          <a:xfrm>
            <a:off x="4438269" y="3479292"/>
            <a:ext cx="402336" cy="402336"/>
          </a:xfrm>
          <a:prstGeom prst="ellipse">
            <a:avLst/>
          </a:prstGeom>
          <a:solidFill>
            <a:srgbClr val="FFAA00"/>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58969"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12005" y="3881628"/>
            <a:ext cx="54864" cy="146304"/>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98698" y="4027932"/>
            <a:ext cx="2681478" cy="2400300"/>
          </a:xfrm>
          <a:prstGeom prst="roundRect">
            <a:avLst/>
          </a:prstGeom>
          <a:solidFill>
            <a:srgbClr val="66006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8426" y="4101084"/>
            <a:ext cx="2462022" cy="320040"/>
          </a:xfrm>
          <a:prstGeom prst="rect">
            <a:avLst/>
          </a:prstGeom>
          <a:noFill/>
        </p:spPr>
        <p:txBody>
          <a:bodyPr wrap="square">
            <a:spAutoFit/>
          </a:bodyPr>
          <a:lstStyle/>
          <a:p>
            <a:pPr algn="ctr"/>
            <a:r>
              <a:rPr sz="1200" b="1" i="0">
                <a:solidFill>
                  <a:srgbClr val="FFAA00"/>
                </a:solidFill>
                <a:latin typeface="Calibri"/>
              </a:rPr>
              <a:t>2023-2025</a:t>
            </a:r>
          </a:p>
        </p:txBody>
      </p:sp>
      <p:sp>
        <p:nvSpPr>
          <p:cNvPr id="21" name="TextBox 20"/>
          <p:cNvSpPr txBox="1"/>
          <p:nvPr/>
        </p:nvSpPr>
        <p:spPr>
          <a:xfrm>
            <a:off x="3408426" y="4439412"/>
            <a:ext cx="2462022" cy="1897380"/>
          </a:xfrm>
          <a:prstGeom prst="rect">
            <a:avLst/>
          </a:prstGeom>
          <a:noFill/>
        </p:spPr>
        <p:txBody>
          <a:bodyPr wrap="square">
            <a:spAutoFit/>
          </a:bodyPr>
          <a:lstStyle/>
          <a:p>
            <a:pPr algn="l"/>
            <a:r>
              <a:rPr sz="1250" b="0" i="0">
                <a:solidFill>
                  <a:srgbClr val="AAAAAA"/>
                </a:solidFill>
                <a:latin typeface="Calibri"/>
              </a:rPr>
              <a:t>The university will invest heavily in digitalization, introducing new online learning platforms and enhancing its virtual reality capabilities to improve student outcomes and faculty development.</a:t>
            </a:r>
          </a:p>
        </p:txBody>
      </p:sp>
      <p:sp>
        <p:nvSpPr>
          <p:cNvPr id="22" name="Oval 21"/>
          <p:cNvSpPr/>
          <p:nvPr/>
        </p:nvSpPr>
        <p:spPr>
          <a:xfrm>
            <a:off x="7348347" y="3479292"/>
            <a:ext cx="402336" cy="402336"/>
          </a:xfrm>
          <a:prstGeom prst="ellipse">
            <a:avLst/>
          </a:prstGeom>
          <a:solidFill>
            <a:srgbClr val="FFFF00"/>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69047"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22083" y="3360420"/>
            <a:ext cx="54864" cy="118872"/>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08776" y="960120"/>
            <a:ext cx="2681478" cy="2400300"/>
          </a:xfrm>
          <a:prstGeom prst="roundRect">
            <a:avLst/>
          </a:prstGeom>
          <a:solidFill>
            <a:srgbClr val="660066"/>
          </a:solidFill>
          <a:ln w="190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8504" y="1033272"/>
            <a:ext cx="2462022" cy="320040"/>
          </a:xfrm>
          <a:prstGeom prst="rect">
            <a:avLst/>
          </a:prstGeom>
          <a:noFill/>
        </p:spPr>
        <p:txBody>
          <a:bodyPr wrap="square">
            <a:spAutoFit/>
          </a:bodyPr>
          <a:lstStyle/>
          <a:p>
            <a:pPr algn="ctr"/>
            <a:r>
              <a:rPr sz="1200" b="1" i="0">
                <a:solidFill>
                  <a:srgbClr val="FFFF00"/>
                </a:solidFill>
                <a:latin typeface="Calibri"/>
              </a:rPr>
              <a:t>2020-2023</a:t>
            </a:r>
          </a:p>
        </p:txBody>
      </p:sp>
      <p:sp>
        <p:nvSpPr>
          <p:cNvPr id="27" name="TextBox 26"/>
          <p:cNvSpPr txBox="1"/>
          <p:nvPr/>
        </p:nvSpPr>
        <p:spPr>
          <a:xfrm>
            <a:off x="6318504" y="1371600"/>
            <a:ext cx="2462022" cy="1897380"/>
          </a:xfrm>
          <a:prstGeom prst="rect">
            <a:avLst/>
          </a:prstGeom>
          <a:noFill/>
        </p:spPr>
        <p:txBody>
          <a:bodyPr wrap="square">
            <a:spAutoFit/>
          </a:bodyPr>
          <a:lstStyle/>
          <a:p>
            <a:pPr algn="l"/>
            <a:r>
              <a:rPr sz="1250" b="0" i="0">
                <a:solidFill>
                  <a:srgbClr val="AAAAAA"/>
                </a:solidFill>
                <a:latin typeface="Calibri"/>
              </a:rPr>
              <a:t>DTU will expand its international partnerships, establishing new collaborations with top universities worldwide and launching joint research initiatives in key areas such as climate change and cybersecurity.</a:t>
            </a:r>
          </a:p>
        </p:txBody>
      </p:sp>
      <p:sp>
        <p:nvSpPr>
          <p:cNvPr id="28" name="Oval 27"/>
          <p:cNvSpPr/>
          <p:nvPr/>
        </p:nvSpPr>
        <p:spPr>
          <a:xfrm>
            <a:off x="10258425" y="3479292"/>
            <a:ext cx="402336" cy="402336"/>
          </a:xfrm>
          <a:prstGeom prst="ellipse">
            <a:avLst/>
          </a:prstGeom>
          <a:solidFill>
            <a:srgbClr val="888888"/>
          </a:solidFill>
          <a:ln w="38100">
            <a:solidFill>
              <a:srgbClr val="3B3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9125" y="3599992"/>
            <a:ext cx="160934" cy="160934"/>
          </a:xfrm>
          <a:prstGeom prst="ellipse">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432161" y="3881628"/>
            <a:ext cx="54864" cy="146304"/>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18854" y="4027932"/>
            <a:ext cx="2681478" cy="2400300"/>
          </a:xfrm>
          <a:prstGeom prst="roundRect">
            <a:avLst/>
          </a:prstGeom>
          <a:solidFill>
            <a:srgbClr val="660066"/>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8582" y="4101084"/>
            <a:ext cx="2462022" cy="320040"/>
          </a:xfrm>
          <a:prstGeom prst="rect">
            <a:avLst/>
          </a:prstGeom>
          <a:noFill/>
        </p:spPr>
        <p:txBody>
          <a:bodyPr wrap="square">
            <a:spAutoFit/>
          </a:bodyPr>
          <a:lstStyle/>
          <a:p>
            <a:pPr algn="ctr"/>
            <a:r>
              <a:rPr sz="1200" b="1" i="0">
                <a:solidFill>
                  <a:srgbClr val="888888"/>
                </a:solidFill>
                <a:latin typeface="Calibri"/>
              </a:rPr>
              <a:t>2018-2020</a:t>
            </a:r>
          </a:p>
        </p:txBody>
      </p:sp>
      <p:sp>
        <p:nvSpPr>
          <p:cNvPr id="33" name="TextBox 32"/>
          <p:cNvSpPr txBox="1"/>
          <p:nvPr/>
        </p:nvSpPr>
        <p:spPr>
          <a:xfrm>
            <a:off x="9228582" y="4439412"/>
            <a:ext cx="2462022" cy="1897380"/>
          </a:xfrm>
          <a:prstGeom prst="rect">
            <a:avLst/>
          </a:prstGeom>
          <a:noFill/>
        </p:spPr>
        <p:txBody>
          <a:bodyPr wrap="square">
            <a:spAutoFit/>
          </a:bodyPr>
          <a:lstStyle/>
          <a:p>
            <a:pPr algn="l"/>
            <a:r>
              <a:rPr sz="1250" b="0" i="0">
                <a:solidFill>
                  <a:srgbClr val="AAAAAA"/>
                </a:solidFill>
                <a:latin typeface="Calibri"/>
              </a:rPr>
              <a:t>The university will launch its new strategic plan, 'DTU 2030: Shaping the Future,' outlining its vision for the next decade and setting ambitious goals for research, education, and innovation.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DTU BY THE NUMBERS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11 / 12</a:t>
            </a:r>
          </a:p>
        </p:txBody>
      </p:sp>
      <p:sp>
        <p:nvSpPr>
          <p:cNvPr id="8" name="Rounded Rectangle 7"/>
          <p:cNvSpPr/>
          <p:nvPr/>
        </p:nvSpPr>
        <p:spPr>
          <a:xfrm>
            <a:off x="228600" y="786384"/>
            <a:ext cx="2809494" cy="15087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923544"/>
            <a:ext cx="2626614" cy="777240"/>
          </a:xfrm>
          <a:prstGeom prst="rect">
            <a:avLst/>
          </a:prstGeom>
          <a:noFill/>
        </p:spPr>
        <p:txBody>
          <a:bodyPr wrap="square">
            <a:spAutoFit/>
          </a:bodyPr>
          <a:lstStyle/>
          <a:p>
            <a:pPr algn="ctr"/>
            <a:r>
              <a:rPr sz="3400" b="1" i="0">
                <a:solidFill>
                  <a:srgbClr val="FFD700"/>
                </a:solidFill>
                <a:latin typeface="Calibri"/>
              </a:rPr>
              <a:t>30,000</a:t>
            </a:r>
          </a:p>
        </p:txBody>
      </p:sp>
      <p:sp>
        <p:nvSpPr>
          <p:cNvPr id="10" name="Rectangle 9"/>
          <p:cNvSpPr/>
          <p:nvPr/>
        </p:nvSpPr>
        <p:spPr>
          <a:xfrm>
            <a:off x="457200" y="1700784"/>
            <a:ext cx="2352294" cy="1828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1883664"/>
            <a:ext cx="2590038" cy="384048"/>
          </a:xfrm>
          <a:prstGeom prst="rect">
            <a:avLst/>
          </a:prstGeom>
          <a:noFill/>
        </p:spPr>
        <p:txBody>
          <a:bodyPr wrap="square">
            <a:spAutoFit/>
          </a:bodyPr>
          <a:lstStyle/>
          <a:p>
            <a:pPr algn="ctr"/>
            <a:r>
              <a:rPr sz="950" b="0" i="0">
                <a:solidFill>
                  <a:srgbClr val="AAAAAA"/>
                </a:solidFill>
                <a:latin typeface="Calibri"/>
              </a:rPr>
              <a:t>Students enrolled</a:t>
            </a:r>
          </a:p>
        </p:txBody>
      </p:sp>
      <p:sp>
        <p:nvSpPr>
          <p:cNvPr id="12" name="Rounded Rectangle 11"/>
          <p:cNvSpPr/>
          <p:nvPr/>
        </p:nvSpPr>
        <p:spPr>
          <a:xfrm>
            <a:off x="3202686" y="786384"/>
            <a:ext cx="2809494" cy="1508760"/>
          </a:xfrm>
          <a:prstGeom prst="roundRect">
            <a:avLst/>
          </a:prstGeom>
          <a:solidFill>
            <a:srgbClr val="66006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4126" y="923544"/>
            <a:ext cx="2626614" cy="777240"/>
          </a:xfrm>
          <a:prstGeom prst="rect">
            <a:avLst/>
          </a:prstGeom>
          <a:noFill/>
        </p:spPr>
        <p:txBody>
          <a:bodyPr wrap="square">
            <a:spAutoFit/>
          </a:bodyPr>
          <a:lstStyle/>
          <a:p>
            <a:pPr algn="ctr"/>
            <a:r>
              <a:rPr sz="3400" b="1" i="0">
                <a:solidFill>
                  <a:srgbClr val="FFAA00"/>
                </a:solidFill>
                <a:latin typeface="Calibri"/>
              </a:rPr>
              <a:t>2,500</a:t>
            </a:r>
          </a:p>
        </p:txBody>
      </p:sp>
      <p:sp>
        <p:nvSpPr>
          <p:cNvPr id="14" name="Rectangle 13"/>
          <p:cNvSpPr/>
          <p:nvPr/>
        </p:nvSpPr>
        <p:spPr>
          <a:xfrm>
            <a:off x="3431286" y="1700784"/>
            <a:ext cx="2352294" cy="1828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2414" y="1883664"/>
            <a:ext cx="2590038" cy="384048"/>
          </a:xfrm>
          <a:prstGeom prst="rect">
            <a:avLst/>
          </a:prstGeom>
          <a:noFill/>
        </p:spPr>
        <p:txBody>
          <a:bodyPr wrap="square">
            <a:spAutoFit/>
          </a:bodyPr>
          <a:lstStyle/>
          <a:p>
            <a:pPr algn="ctr"/>
            <a:r>
              <a:rPr sz="950" b="0" i="0">
                <a:solidFill>
                  <a:srgbClr val="AAAAAA"/>
                </a:solidFill>
                <a:latin typeface="Calibri"/>
              </a:rPr>
              <a:t>Faculty members</a:t>
            </a:r>
          </a:p>
        </p:txBody>
      </p:sp>
      <p:sp>
        <p:nvSpPr>
          <p:cNvPr id="16" name="Rounded Rectangle 15"/>
          <p:cNvSpPr/>
          <p:nvPr/>
        </p:nvSpPr>
        <p:spPr>
          <a:xfrm>
            <a:off x="6176772" y="786384"/>
            <a:ext cx="2809494" cy="1508760"/>
          </a:xfrm>
          <a:prstGeom prst="roundRect">
            <a:avLst/>
          </a:prstGeom>
          <a:solidFill>
            <a:srgbClr val="660066"/>
          </a:solidFill>
          <a:ln w="190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8212" y="923544"/>
            <a:ext cx="2626614" cy="777240"/>
          </a:xfrm>
          <a:prstGeom prst="rect">
            <a:avLst/>
          </a:prstGeom>
          <a:noFill/>
        </p:spPr>
        <p:txBody>
          <a:bodyPr wrap="square">
            <a:spAutoFit/>
          </a:bodyPr>
          <a:lstStyle/>
          <a:p>
            <a:pPr algn="ctr"/>
            <a:r>
              <a:rPr sz="3400" b="1" i="0">
                <a:solidFill>
                  <a:srgbClr val="FFFF00"/>
                </a:solidFill>
                <a:latin typeface="Calibri"/>
              </a:rPr>
              <a:t>1,800</a:t>
            </a:r>
          </a:p>
        </p:txBody>
      </p:sp>
      <p:sp>
        <p:nvSpPr>
          <p:cNvPr id="18" name="Rectangle 17"/>
          <p:cNvSpPr/>
          <p:nvPr/>
        </p:nvSpPr>
        <p:spPr>
          <a:xfrm>
            <a:off x="6405372" y="1700784"/>
            <a:ext cx="2352294" cy="18288"/>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86500" y="1883664"/>
            <a:ext cx="2590038" cy="384048"/>
          </a:xfrm>
          <a:prstGeom prst="rect">
            <a:avLst/>
          </a:prstGeom>
          <a:noFill/>
        </p:spPr>
        <p:txBody>
          <a:bodyPr wrap="square">
            <a:spAutoFit/>
          </a:bodyPr>
          <a:lstStyle/>
          <a:p>
            <a:pPr algn="ctr"/>
            <a:r>
              <a:rPr sz="950" b="0" i="0">
                <a:solidFill>
                  <a:srgbClr val="AAAAAA"/>
                </a:solidFill>
                <a:latin typeface="Calibri"/>
              </a:rPr>
              <a:t>Academic staff</a:t>
            </a:r>
          </a:p>
        </p:txBody>
      </p:sp>
      <p:sp>
        <p:nvSpPr>
          <p:cNvPr id="20" name="Rounded Rectangle 19"/>
          <p:cNvSpPr/>
          <p:nvPr/>
        </p:nvSpPr>
        <p:spPr>
          <a:xfrm>
            <a:off x="9150858" y="786384"/>
            <a:ext cx="2809494" cy="1508760"/>
          </a:xfrm>
          <a:prstGeom prst="roundRect">
            <a:avLst/>
          </a:prstGeom>
          <a:solidFill>
            <a:srgbClr val="660066"/>
          </a:solidFill>
          <a:ln w="1905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2298" y="923544"/>
            <a:ext cx="2626614" cy="777240"/>
          </a:xfrm>
          <a:prstGeom prst="rect">
            <a:avLst/>
          </a:prstGeom>
          <a:noFill/>
        </p:spPr>
        <p:txBody>
          <a:bodyPr wrap="square">
            <a:spAutoFit/>
          </a:bodyPr>
          <a:lstStyle/>
          <a:p>
            <a:pPr algn="ctr"/>
            <a:r>
              <a:rPr sz="3400" b="1" i="0">
                <a:solidFill>
                  <a:srgbClr val="888888"/>
                </a:solidFill>
                <a:latin typeface="Calibri"/>
              </a:rPr>
              <a:t>80</a:t>
            </a:r>
          </a:p>
        </p:txBody>
      </p:sp>
      <p:sp>
        <p:nvSpPr>
          <p:cNvPr id="22" name="Rectangle 21"/>
          <p:cNvSpPr/>
          <p:nvPr/>
        </p:nvSpPr>
        <p:spPr>
          <a:xfrm>
            <a:off x="9379458" y="1700784"/>
            <a:ext cx="2352294" cy="1828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0586" y="1883664"/>
            <a:ext cx="2590038" cy="384048"/>
          </a:xfrm>
          <a:prstGeom prst="rect">
            <a:avLst/>
          </a:prstGeom>
          <a:noFill/>
        </p:spPr>
        <p:txBody>
          <a:bodyPr wrap="square">
            <a:spAutoFit/>
          </a:bodyPr>
          <a:lstStyle/>
          <a:p>
            <a:pPr algn="ctr"/>
            <a:r>
              <a:rPr sz="950" b="0" i="0">
                <a:solidFill>
                  <a:srgbClr val="AAAAAA"/>
                </a:solidFill>
                <a:latin typeface="Calibri"/>
              </a:rPr>
              <a:t>Countries represented by international students</a:t>
            </a:r>
          </a:p>
        </p:txBody>
      </p:sp>
      <p:sp>
        <p:nvSpPr>
          <p:cNvPr id="24" name="Rounded Rectangle 23"/>
          <p:cNvSpPr/>
          <p:nvPr/>
        </p:nvSpPr>
        <p:spPr>
          <a:xfrm>
            <a:off x="228600" y="2459736"/>
            <a:ext cx="11795760" cy="4123944"/>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475720" y="2596896"/>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622024" y="2596896"/>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768328" y="2596896"/>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DTU BY THE NUMBERS</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11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SUMMARY</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12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B0082"/>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88952" cy="25603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24360" y="54864"/>
            <a:ext cx="164592" cy="6547104"/>
          </a:xfrm>
          <a:prstGeom prst="rect">
            <a:avLst/>
          </a:prstGeom>
          <a:solidFill>
            <a:srgbClr val="3B3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33066" y="137160"/>
            <a:ext cx="7922818" cy="594360"/>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33066" y="210312"/>
            <a:ext cx="7922818" cy="448056"/>
          </a:xfrm>
          <a:prstGeom prst="rect">
            <a:avLst/>
          </a:prstGeom>
          <a:noFill/>
        </p:spPr>
        <p:txBody>
          <a:bodyPr wrap="square">
            <a:spAutoFit/>
          </a:bodyPr>
          <a:lstStyle/>
          <a:p>
            <a:pPr algn="ctr"/>
            <a:r>
              <a:rPr sz="2200" b="1" i="0">
                <a:solidFill>
                  <a:srgbClr val="FFFFFF"/>
                </a:solidFill>
                <a:latin typeface="Calibri"/>
              </a:rPr>
              <a:t>SUMMARY</a:t>
            </a:r>
          </a:p>
        </p:txBody>
      </p:sp>
      <p:sp>
        <p:nvSpPr>
          <p:cNvPr id="7" name="TextBox 6"/>
          <p:cNvSpPr txBox="1"/>
          <p:nvPr/>
        </p:nvSpPr>
        <p:spPr>
          <a:xfrm>
            <a:off x="10954512" y="6638544"/>
            <a:ext cx="1005840" cy="182880"/>
          </a:xfrm>
          <a:prstGeom prst="rect">
            <a:avLst/>
          </a:prstGeom>
          <a:noFill/>
        </p:spPr>
        <p:txBody>
          <a:bodyPr wrap="square">
            <a:spAutoFit/>
          </a:bodyPr>
          <a:lstStyle/>
          <a:p>
            <a:pPr algn="r"/>
            <a:r>
              <a:rPr sz="900" b="1" i="0">
                <a:solidFill>
                  <a:srgbClr val="FFFFFF"/>
                </a:solidFill>
                <a:latin typeface="Calibri"/>
              </a:rPr>
              <a:t>12 / 12</a:t>
            </a:r>
          </a:p>
        </p:txBody>
      </p:sp>
      <p:sp>
        <p:nvSpPr>
          <p:cNvPr id="8" name="Rounded Rectangle 7"/>
          <p:cNvSpPr/>
          <p:nvPr/>
        </p:nvSpPr>
        <p:spPr>
          <a:xfrm>
            <a:off x="5202753" y="786384"/>
            <a:ext cx="6661038" cy="5797296"/>
          </a:xfrm>
          <a:prstGeom prst="roundRect">
            <a:avLst/>
          </a:prstGeom>
          <a:solidFill>
            <a:srgbClr val="660066"/>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15151" y="923544"/>
            <a:ext cx="73152" cy="73152"/>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61455" y="923544"/>
            <a:ext cx="73152" cy="73152"/>
          </a:xfrm>
          <a:prstGeom prst="ellipse">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07759" y="923544"/>
            <a:ext cx="73152" cy="73152"/>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